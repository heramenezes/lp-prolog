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Noto Serif Display Semi-Bold Italics" charset="1" panose="02020702080505090204"/>
      <p:regular r:id="rId34"/>
    </p:embeddedFont>
    <p:embeddedFont>
      <p:font typeface="Public Sans Bold" charset="1" panose="00000000000000000000"/>
      <p:regular r:id="rId35"/>
    </p:embeddedFont>
    <p:embeddedFont>
      <p:font typeface="Public Sans" charset="1" panose="00000000000000000000"/>
      <p:regular r:id="rId36"/>
    </p:embeddedFont>
    <p:embeddedFont>
      <p:font typeface="Public Sans Medium Italics" charset="1" panose="00000000000000000000"/>
      <p:regular r:id="rId37"/>
    </p:embeddedFont>
    <p:embeddedFont>
      <p:font typeface="Noto Serif Display Bold Italics" charset="1" panose="02020802080505090204"/>
      <p:regular r:id="rId38"/>
    </p:embeddedFont>
    <p:embeddedFont>
      <p:font typeface="Roboto Mono Bold" charset="1" panose="00000000000000000000"/>
      <p:regular r:id="rId39"/>
    </p:embeddedFont>
    <p:embeddedFont>
      <p:font typeface="Lexend Deca" charset="1" panose="00000000000000000000"/>
      <p:regular r:id="rId40"/>
    </p:embeddedFont>
    <p:embeddedFont>
      <p:font typeface="Public Sans Italics" charset="1" panose="000000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doi.org/10.1017/S1471068422000102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433509"/>
            <a:ext cx="13919249" cy="750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0"/>
              </a:lnSpc>
            </a:pPr>
            <a:r>
              <a:rPr lang="en-US" b="true" sz="13400" i="true" spc="-65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Fifty Years of Prolog and Beyond</a:t>
            </a:r>
          </a:p>
          <a:p>
            <a:pPr algn="l">
              <a:lnSpc>
                <a:spcPts val="1474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15003" y="355321"/>
            <a:ext cx="1544297" cy="1310722"/>
          </a:xfrm>
          <a:custGeom>
            <a:avLst/>
            <a:gdLst/>
            <a:ahLst/>
            <a:cxnLst/>
            <a:rect r="r" b="b" t="t" l="l"/>
            <a:pathLst>
              <a:path h="1310722" w="1544297">
                <a:moveTo>
                  <a:pt x="0" y="0"/>
                </a:moveTo>
                <a:lnTo>
                  <a:pt x="1544297" y="0"/>
                </a:lnTo>
                <a:lnTo>
                  <a:pt x="1544297" y="1310722"/>
                </a:lnTo>
                <a:lnTo>
                  <a:pt x="0" y="1310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71550"/>
            <a:ext cx="50368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Apresentação de artigo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813799"/>
            <a:ext cx="1039087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Published online by Cambridge University Press:  17 May 2022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22482" y="6784785"/>
            <a:ext cx="5036818" cy="2460815"/>
            <a:chOff x="0" y="0"/>
            <a:chExt cx="6715757" cy="32810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6715757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499"/>
                </a:lnSpc>
              </a:pPr>
              <a:r>
                <a:rPr lang="en-US" b="true" sz="2499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Integrantes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720850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Mateus Ottoni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00816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Raquel Motta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821770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Antônio Drumond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40883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Davi Puddo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90550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Laura Menezes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4298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191083" y="6095917"/>
            <a:ext cx="8382166" cy="8382166"/>
          </a:xfrm>
          <a:custGeom>
            <a:avLst/>
            <a:gdLst/>
            <a:ahLst/>
            <a:cxnLst/>
            <a:rect r="r" b="b" t="t" l="l"/>
            <a:pathLst>
              <a:path h="8382166" w="8382166">
                <a:moveTo>
                  <a:pt x="0" y="0"/>
                </a:moveTo>
                <a:lnTo>
                  <a:pt x="8382166" y="0"/>
                </a:lnTo>
                <a:lnTo>
                  <a:pt x="8382166" y="8382166"/>
                </a:lnTo>
                <a:lnTo>
                  <a:pt x="0" y="83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23929"/>
            <a:ext cx="1391924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0"/>
              </a:lnSpc>
            </a:pPr>
            <a:r>
              <a:rPr lang="en-US" b="true" sz="13500" i="true" spc="-661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Conteúdo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9946" y="8524875"/>
            <a:ext cx="309165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Fifty Years of Prolog and beyond</a:t>
            </a:r>
          </a:p>
        </p:txBody>
      </p:sp>
      <p:sp>
        <p:nvSpPr>
          <p:cNvPr name="AutoShape 6" id="6"/>
          <p:cNvSpPr/>
          <p:nvPr/>
        </p:nvSpPr>
        <p:spPr>
          <a:xfrm rot="0">
            <a:off x="8679763" y="3657517"/>
            <a:ext cx="3559327" cy="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" id="7"/>
          <p:cNvGrpSpPr/>
          <p:nvPr/>
        </p:nvGrpSpPr>
        <p:grpSpPr>
          <a:xfrm rot="0">
            <a:off x="8963234" y="5143500"/>
            <a:ext cx="6869032" cy="3933306"/>
            <a:chOff x="0" y="0"/>
            <a:chExt cx="9158710" cy="5244408"/>
          </a:xfrm>
        </p:grpSpPr>
        <p:sp>
          <p:nvSpPr>
            <p:cNvPr name="AutoShape 8" id="8"/>
            <p:cNvSpPr/>
            <p:nvPr/>
          </p:nvSpPr>
          <p:spPr>
            <a:xfrm>
              <a:off x="0" y="19050"/>
              <a:ext cx="875814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2144" y="920750"/>
              <a:ext cx="669361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22144" y="1822561"/>
              <a:ext cx="669361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22144" y="2724261"/>
              <a:ext cx="669361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2144" y="3625961"/>
              <a:ext cx="669361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287" y="4502261"/>
              <a:ext cx="669361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76200"/>
              <a:ext cx="6715757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Introdução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78011"/>
              <a:ext cx="9158710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Parte I: As primeiras etapas do Prolog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879711"/>
              <a:ext cx="8758143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Parte II: Estado Atual do Prolog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781411"/>
              <a:ext cx="6715757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Conclusões atuais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683111"/>
              <a:ext cx="6715757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Parte III: O futuro do Prolog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2144" y="4558608"/>
              <a:ext cx="6715757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Conclusão final</a:t>
              </a:r>
            </a:p>
          </p:txBody>
        </p:sp>
        <p:sp>
          <p:nvSpPr>
            <p:cNvPr name="AutoShape 20" id="20"/>
            <p:cNvSpPr/>
            <p:nvPr/>
          </p:nvSpPr>
          <p:spPr>
            <a:xfrm>
              <a:off x="0" y="920750"/>
              <a:ext cx="875814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22144" y="1822561"/>
              <a:ext cx="875814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44287" y="2724261"/>
              <a:ext cx="875814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22144" y="3625961"/>
              <a:ext cx="875814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22144" y="4502261"/>
              <a:ext cx="8758143" cy="0"/>
            </a:xfrm>
            <a:prstGeom prst="line">
              <a:avLst/>
            </a:prstGeom>
            <a:ln cap="flat" w="38100">
              <a:solidFill>
                <a:srgbClr val="333333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78471" y="268941"/>
            <a:ext cx="8691465" cy="9749118"/>
          </a:xfrm>
          <a:custGeom>
            <a:avLst/>
            <a:gdLst/>
            <a:ahLst/>
            <a:cxnLst/>
            <a:rect r="r" b="b" t="t" l="l"/>
            <a:pathLst>
              <a:path h="9749118" w="8691465">
                <a:moveTo>
                  <a:pt x="0" y="0"/>
                </a:moveTo>
                <a:lnTo>
                  <a:pt x="8691465" y="0"/>
                </a:lnTo>
                <a:lnTo>
                  <a:pt x="8691465" y="9749118"/>
                </a:lnTo>
                <a:lnTo>
                  <a:pt x="0" y="9749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34" r="0" b="-248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9112" y="2686050"/>
            <a:ext cx="8757688" cy="367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b="true" sz="4000" i="true" spc="-196">
                <a:solidFill>
                  <a:srgbClr val="333333"/>
                </a:solidFill>
                <a:latin typeface="Public Sans Medium Italics"/>
                <a:ea typeface="Public Sans Medium Italics"/>
                <a:cs typeface="Public Sans Medium Italics"/>
                <a:sym typeface="Public Sans Medium Italics"/>
              </a:rPr>
              <a:t>KÖRNER, P. et al. Fifty Years of Prolog and Beyond. Theory and Practice of Logic Programming, v. 22, n. 6, p. 776-858, 2022. Disponível em: </a:t>
            </a:r>
            <a:r>
              <a:rPr lang="en-US" b="true" sz="4000" i="true" spc="-196" u="sng">
                <a:solidFill>
                  <a:srgbClr val="7162FF"/>
                </a:solidFill>
                <a:latin typeface="Public Sans Medium Italics"/>
                <a:ea typeface="Public Sans Medium Italics"/>
                <a:cs typeface="Public Sans Medium Italics"/>
                <a:sym typeface="Public Sans Medium Italics"/>
                <a:hlinkClick r:id="rId3" tooltip="https://doi.org/10.1017/S1471068422000102"/>
              </a:rPr>
              <a:t>https://doi.org/10.1017/S1471068422000102</a:t>
            </a:r>
            <a:r>
              <a:rPr lang="en-US" b="true" sz="4000" i="true" spc="-196">
                <a:solidFill>
                  <a:srgbClr val="333333"/>
                </a:solidFill>
                <a:latin typeface="Public Sans Medium Italics"/>
                <a:ea typeface="Public Sans Medium Italics"/>
                <a:cs typeface="Public Sans Medium Italics"/>
                <a:sym typeface="Public Sans Medium Italic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2854" y="1288819"/>
            <a:ext cx="1603644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500" i="true" spc="-318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Objetivo do trabalho e estrutura</a:t>
            </a:r>
          </a:p>
        </p:txBody>
      </p:sp>
      <p:sp>
        <p:nvSpPr>
          <p:cNvPr name="AutoShape 3" id="3"/>
          <p:cNvSpPr/>
          <p:nvPr/>
        </p:nvSpPr>
        <p:spPr>
          <a:xfrm>
            <a:off x="1222854" y="780756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22854" y="2717578"/>
            <a:ext cx="16230600" cy="555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Objetivo:</a:t>
            </a:r>
            <a:r>
              <a:rPr lang="en-US" sz="3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Analisar 50 anos de evolução do Prolog, integrando lições aprendidas e propondo direções futuras.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Estrutura do artigo: 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Parte 1: Evolução histórica até o padrão ISO (1995).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Parte 2: Implementações pós-ISO e desafios de compatibilidade.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Parte 3: Análise SWOT + propostas para o futuro.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2854" y="1288819"/>
            <a:ext cx="1603644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500" i="true" spc="-318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Definição de Prolog</a:t>
            </a:r>
          </a:p>
        </p:txBody>
      </p:sp>
      <p:sp>
        <p:nvSpPr>
          <p:cNvPr name="AutoShape 3" id="3"/>
          <p:cNvSpPr/>
          <p:nvPr/>
        </p:nvSpPr>
        <p:spPr>
          <a:xfrm>
            <a:off x="1222854" y="780756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22854" y="2727103"/>
            <a:ext cx="16230600" cy="593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Características fundamentais: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Cláusulas de Horn: Regras lógicas para representar conhecimento.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Meta-predicados: Permitem manipular regras como dados.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SLD-resolution: Método de busca backtracking (tentativa e erro).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Unificação: "Casar" termos com variáveis (ex: X = 5).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Busca em profundidade: Explora uma opção até o fim antes de voltar.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Teste técnico: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"Se um sistema executa este código de forma flexível (unição, divisão de listas), é Prolog."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955052" y="7776628"/>
            <a:ext cx="8572049" cy="110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333333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app</a:t>
            </a:r>
            <a:r>
              <a:rPr lang="en-US" b="true" sz="2499">
                <a:solidFill>
                  <a:srgbClr val="333333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end([], X, X).  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333333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append([H|X], Y, [H|Z]) :- append(X, Y, Z).  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2854" y="1288819"/>
            <a:ext cx="1603644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500" i="true" spc="-318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Ancestrais e nascimento do Prolog</a:t>
            </a:r>
          </a:p>
        </p:txBody>
      </p:sp>
      <p:sp>
        <p:nvSpPr>
          <p:cNvPr name="AutoShape 3" id="3"/>
          <p:cNvSpPr/>
          <p:nvPr/>
        </p:nvSpPr>
        <p:spPr>
          <a:xfrm>
            <a:off x="1222854" y="780756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22854" y="2942413"/>
            <a:ext cx="16230600" cy="593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Antes do Prolog, havia 3 áreas-chave: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IA (LISP) // teorema automático (usando resolução de Robinson) // processamento de linguagem (Q-systems)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Colmerauer queria criar um sistema de tradução automática e, com Kowalski, adaptaram a SL-resolution para análise linguística. Isso levou ao Prolog 0 em 1972. 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Marco: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introdução revolucionária de corrotinas, que permitiam pausar/adiar a execução de tarefas até que variáveis fossem definidas. → base para Prolog I (1973).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Autores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destacam essa colaboração interdisciplinar como crucial para o nascimento do Prolog, mostrando como a ciência avança através de conexões entre áreas.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2854" y="1288819"/>
            <a:ext cx="16036446" cy="100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500" i="true" spc="-318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Early Prolog Systems</a:t>
            </a:r>
          </a:p>
        </p:txBody>
      </p:sp>
      <p:sp>
        <p:nvSpPr>
          <p:cNvPr name="AutoShape 3" id="3"/>
          <p:cNvSpPr/>
          <p:nvPr/>
        </p:nvSpPr>
        <p:spPr>
          <a:xfrm>
            <a:off x="1222854" y="780756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22854" y="3038107"/>
            <a:ext cx="16230600" cy="643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Sistemas pioneiros (1972–1995):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Prolog 0 (1972): Primeira versão, em Fortran, com corrotinas. Lento.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DEC-10 Prolog (1975): Primeiro compilador eficiente (Edinburgh). Mais rápido, rivalizando com LISP.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C-Prolog (1982): Portável para sistemas Unix, popularizou a sintaxe padrão.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MU-Prolog (1982): Introduziu negação segura (evita erros comuns) e módulos.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WAM (1983):</a:t>
            </a: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Máquina abstrata que padronizou a compilação de Prolog, tornando-o rápido e portável.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22854" y="780756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5953" y="2035759"/>
            <a:ext cx="15376094" cy="6554060"/>
          </a:xfrm>
          <a:custGeom>
            <a:avLst/>
            <a:gdLst/>
            <a:ahLst/>
            <a:cxnLst/>
            <a:rect r="r" b="b" t="t" l="l"/>
            <a:pathLst>
              <a:path h="6554060" w="15376094">
                <a:moveTo>
                  <a:pt x="0" y="0"/>
                </a:moveTo>
                <a:lnTo>
                  <a:pt x="15376094" y="0"/>
                </a:lnTo>
                <a:lnTo>
                  <a:pt x="15376094" y="6554060"/>
                </a:lnTo>
                <a:lnTo>
                  <a:pt x="0" y="6554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75264"/>
            <a:ext cx="1570688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39"/>
              </a:lnSpc>
            </a:pPr>
            <a:r>
              <a:rPr lang="en-US" b="true" sz="10199" i="true" spc="-499">
                <a:solidFill>
                  <a:srgbClr val="D3959B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W</a:t>
            </a:r>
            <a:r>
              <a:rPr lang="en-US" b="true" sz="10199" i="true" spc="-49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arren </a:t>
            </a:r>
            <a:r>
              <a:rPr lang="en-US" b="true" sz="10199" i="true" spc="-499">
                <a:solidFill>
                  <a:srgbClr val="D3959B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</a:t>
            </a:r>
            <a:r>
              <a:rPr lang="en-US" b="true" sz="10199" i="true" spc="-49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bstract </a:t>
            </a:r>
            <a:r>
              <a:rPr lang="en-US" b="true" sz="10199" i="true" spc="-499">
                <a:solidFill>
                  <a:srgbClr val="D3959B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</a:t>
            </a:r>
            <a:r>
              <a:rPr lang="en-US" b="true" sz="10199" i="true" spc="-49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achine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619353"/>
            <a:ext cx="7287577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Clarificação da implementação em Prolog do DEC-10.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032749"/>
            <a:ext cx="7287577" cy="1225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Tornou-se a base para compiladores de Prolog.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13487" y="3532564"/>
            <a:ext cx="164418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</a:pPr>
            <a:r>
              <a:rPr lang="en-US" sz="4024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1983</a:t>
            </a:r>
          </a:p>
        </p:txBody>
      </p:sp>
      <p:sp>
        <p:nvSpPr>
          <p:cNvPr name="AutoShape 6" id="6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852187" y="6260871"/>
            <a:ext cx="6401932" cy="1225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Uso de compilação em código intermediário.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3485" y="3016779"/>
            <a:ext cx="8932818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7"/>
              </a:lnSpc>
            </a:pPr>
            <a:r>
              <a:rPr lang="en-US" b="true" sz="27498" i="true" spc="-1347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FGCS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3485" y="3129643"/>
            <a:ext cx="576350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Fifth Generation Computer Systems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38767" y="646793"/>
            <a:ext cx="7120533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Iniciativa Japonesa</a:t>
            </a:r>
          </a:p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1982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38767" y="3469519"/>
            <a:ext cx="712053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Impulsionar indústria de computação.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38767" y="2716741"/>
            <a:ext cx="71205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38767" y="5829602"/>
            <a:ext cx="712053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Criação de subconjunto de Prolog sem backtracking devido à complexidade.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38767" y="5076825"/>
            <a:ext cx="71205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Desenvolvimento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38767" y="8388350"/>
            <a:ext cx="712053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Desenvolvimento da computação paralela.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38767" y="7635573"/>
            <a:ext cx="71205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Resultado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138767" y="3379031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138767" y="5738813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0">
            <a:off x="10138767" y="8283273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35447" y="1307869"/>
            <a:ext cx="7217106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Bold Italics"/>
                <a:ea typeface="Noto Serif Display Bold Italics"/>
                <a:cs typeface="Noto Serif Display Bold Italics"/>
                <a:sym typeface="Noto Serif Display Bold Italics"/>
              </a:rPr>
              <a:t>Paralelismo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58116" y="8070422"/>
            <a:ext cx="22399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SICStus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2080" y="8746697"/>
            <a:ext cx="267199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Or-Parallelism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83631" y="8070422"/>
            <a:ext cx="317098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Ciao</a:t>
            </a:r>
          </a:p>
        </p:txBody>
      </p:sp>
      <p:sp>
        <p:nvSpPr>
          <p:cNvPr name="AutoShape 6" id="6"/>
          <p:cNvSpPr/>
          <p:nvPr/>
        </p:nvSpPr>
        <p:spPr>
          <a:xfrm>
            <a:off x="1222854" y="780756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1578079" y="7715250"/>
            <a:ext cx="6709921" cy="14288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380681" y="7513702"/>
            <a:ext cx="394795" cy="394795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271727" y="7532140"/>
            <a:ext cx="394795" cy="394795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064999" y="8746697"/>
            <a:ext cx="280825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And-Parallelism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3465" y="3239919"/>
            <a:ext cx="12082528" cy="1225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Programação lógica e Prolog reconhecidos como benéficos ao desenvolvimento da execução paralela.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3465" y="5124450"/>
            <a:ext cx="366306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Or-Parallelism: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3465" y="6844871"/>
            <a:ext cx="366306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And-Parallelism: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96732" y="5124021"/>
            <a:ext cx="710929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Explora caminhos alternativos paralelamente à execução.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59795" y="6845360"/>
            <a:ext cx="5482738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O mesmo caminho de execução é executado em passos paralelos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8145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4237489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7166642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3169578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793553" y="4818216"/>
            <a:ext cx="12828317" cy="973836"/>
          </a:xfrm>
          <a:custGeom>
            <a:avLst/>
            <a:gdLst/>
            <a:ahLst/>
            <a:cxnLst/>
            <a:rect r="r" b="b" t="t" l="l"/>
            <a:pathLst>
              <a:path h="973836" w="12828317">
                <a:moveTo>
                  <a:pt x="0" y="0"/>
                </a:moveTo>
                <a:lnTo>
                  <a:pt x="12828317" y="0"/>
                </a:lnTo>
                <a:lnTo>
                  <a:pt x="12828317" y="973836"/>
                </a:lnTo>
                <a:lnTo>
                  <a:pt x="0" y="97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6521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91658" y="1194205"/>
            <a:ext cx="5904684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Após WAM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6130" y="6832131"/>
            <a:ext cx="314271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Quintus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38105" y="6793828"/>
            <a:ext cx="22570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Bin-Prolog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9291" y="6832131"/>
            <a:ext cx="161294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SICStus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71496" y="4056216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1984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10168110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361636" y="6793828"/>
            <a:ext cx="177191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IBM Prolog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4462" y="4056216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1984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930" y="4056216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1985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03586" y="4018116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1986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34563" y="7336956"/>
            <a:ext cx="2805852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Padrão de Prolog por vários anos.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65184" y="7365328"/>
            <a:ext cx="2805852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Nome genérico a sistemas da IBM.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8145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3094946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6024099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2027035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46336" y="4818216"/>
            <a:ext cx="16230600" cy="973836"/>
          </a:xfrm>
          <a:custGeom>
            <a:avLst/>
            <a:gdLst/>
            <a:ahLst/>
            <a:cxnLst/>
            <a:rect r="r" b="b" t="t" l="l"/>
            <a:pathLst>
              <a:path h="973836" w="16230600">
                <a:moveTo>
                  <a:pt x="0" y="0"/>
                </a:moveTo>
                <a:lnTo>
                  <a:pt x="16230600" y="0"/>
                </a:lnTo>
                <a:lnTo>
                  <a:pt x="16230600" y="973836"/>
                </a:lnTo>
                <a:lnTo>
                  <a:pt x="0" y="97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91658" y="1194205"/>
            <a:ext cx="5904684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Após WAM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3587" y="6832131"/>
            <a:ext cx="314271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8499" y="6851282"/>
            <a:ext cx="22570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Ciao-Prolog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07317" y="6851282"/>
            <a:ext cx="161294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Andorra 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5811" y="3988845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1985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025567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5129661" y="6812980"/>
            <a:ext cx="177191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SB-Prolog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54162" y="3984014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1993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14697" y="3966136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1987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01820" y="3984014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1991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4995332" y="5951074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4029896" y="6851282"/>
            <a:ext cx="19308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GNU Prolog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28106" y="4006723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1999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07754" y="7403631"/>
            <a:ext cx="2374384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Primeira implementação de tabulação paralela.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21173" y="7403631"/>
            <a:ext cx="2805852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Inicialmente um exercício para entender o WAM.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8145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3094946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6024099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2027035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46336" y="4818216"/>
            <a:ext cx="16230600" cy="973836"/>
          </a:xfrm>
          <a:custGeom>
            <a:avLst/>
            <a:gdLst/>
            <a:ahLst/>
            <a:cxnLst/>
            <a:rect r="r" b="b" t="t" l="l"/>
            <a:pathLst>
              <a:path h="973836" w="16230600">
                <a:moveTo>
                  <a:pt x="0" y="0"/>
                </a:moveTo>
                <a:lnTo>
                  <a:pt x="16230600" y="0"/>
                </a:lnTo>
                <a:lnTo>
                  <a:pt x="16230600" y="973836"/>
                </a:lnTo>
                <a:lnTo>
                  <a:pt x="0" y="97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9115" y="1028700"/>
            <a:ext cx="1278976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Alternativas ao WAM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3587" y="6832131"/>
            <a:ext cx="314271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SWI-Prolog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8499" y="6851282"/>
            <a:ext cx="22570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B-Prolog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07317" y="6851282"/>
            <a:ext cx="161294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BinProlog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5811" y="3988845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1985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025567" y="5934927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5129661" y="6812980"/>
            <a:ext cx="177191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LIFE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54162" y="3984014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1993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14697" y="3966136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1987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01820" y="3984014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1991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4995332" y="5951074"/>
            <a:ext cx="0" cy="725552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4165045" y="6848277"/>
            <a:ext cx="161294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tuProlog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28106" y="4006723"/>
            <a:ext cx="128436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1999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07754" y="7365531"/>
            <a:ext cx="2374384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Maior número de usuários de um sistema de Prolog.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28424" y="7365531"/>
            <a:ext cx="2374384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i="true">
                <a:solidFill>
                  <a:srgbClr val="333333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Logic, Inheritance, Funcions and Equations.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84327" y="7365531"/>
            <a:ext cx="237438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Usa da Java Virtual Machine (JVM), visando não haver compilação.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812284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37263" y="2473136"/>
            <a:ext cx="12085570" cy="7206021"/>
          </a:xfrm>
          <a:custGeom>
            <a:avLst/>
            <a:gdLst/>
            <a:ahLst/>
            <a:cxnLst/>
            <a:rect r="r" b="b" t="t" l="l"/>
            <a:pathLst>
              <a:path h="7206021" w="12085570">
                <a:moveTo>
                  <a:pt x="0" y="0"/>
                </a:moveTo>
                <a:lnTo>
                  <a:pt x="12085570" y="0"/>
                </a:lnTo>
                <a:lnTo>
                  <a:pt x="12085570" y="7206021"/>
                </a:lnTo>
                <a:lnTo>
                  <a:pt x="0" y="7206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7406581" y="1028700"/>
            <a:ext cx="1006040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Heranças em Prolog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788" y="3551988"/>
            <a:ext cx="4356733" cy="5706312"/>
            <a:chOff x="0" y="0"/>
            <a:chExt cx="2909794" cy="3811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794" cy="3811157"/>
            </a:xfrm>
            <a:custGeom>
              <a:avLst/>
              <a:gdLst/>
              <a:ahLst/>
              <a:cxnLst/>
              <a:rect r="r" b="b" t="t" l="l"/>
              <a:pathLst>
                <a:path h="3811157" w="2909794">
                  <a:moveTo>
                    <a:pt x="2785334" y="59690"/>
                  </a:moveTo>
                  <a:cubicBezTo>
                    <a:pt x="2820894" y="59690"/>
                    <a:pt x="2850104" y="88900"/>
                    <a:pt x="2850104" y="124460"/>
                  </a:cubicBezTo>
                  <a:lnTo>
                    <a:pt x="2850104" y="3686697"/>
                  </a:lnTo>
                  <a:cubicBezTo>
                    <a:pt x="2850104" y="3722257"/>
                    <a:pt x="2820894" y="3751467"/>
                    <a:pt x="2785334" y="3751467"/>
                  </a:cubicBezTo>
                  <a:lnTo>
                    <a:pt x="124460" y="3751467"/>
                  </a:lnTo>
                  <a:cubicBezTo>
                    <a:pt x="88900" y="3751467"/>
                    <a:pt x="59690" y="3722257"/>
                    <a:pt x="59690" y="368669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785334" y="59690"/>
                  </a:lnTo>
                  <a:moveTo>
                    <a:pt x="2785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686697"/>
                  </a:lnTo>
                  <a:cubicBezTo>
                    <a:pt x="0" y="3755277"/>
                    <a:pt x="55880" y="3811157"/>
                    <a:pt x="124460" y="3811157"/>
                  </a:cubicBezTo>
                  <a:lnTo>
                    <a:pt x="2785334" y="3811157"/>
                  </a:lnTo>
                  <a:cubicBezTo>
                    <a:pt x="2853914" y="3811157"/>
                    <a:pt x="2909794" y="3755277"/>
                    <a:pt x="2909794" y="3686697"/>
                  </a:cubicBezTo>
                  <a:lnTo>
                    <a:pt x="2909794" y="124460"/>
                  </a:lnTo>
                  <a:cubicBezTo>
                    <a:pt x="2909794" y="55880"/>
                    <a:pt x="2853914" y="0"/>
                    <a:pt x="2785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3067072" y="8585926"/>
            <a:ext cx="734165" cy="0"/>
          </a:xfrm>
          <a:prstGeom prst="line">
            <a:avLst/>
          </a:prstGeom>
          <a:ln cap="flat" w="952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1044993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965634" y="3551988"/>
            <a:ext cx="4356733" cy="5706312"/>
            <a:chOff x="0" y="0"/>
            <a:chExt cx="2909794" cy="3811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09794" cy="3811157"/>
            </a:xfrm>
            <a:custGeom>
              <a:avLst/>
              <a:gdLst/>
              <a:ahLst/>
              <a:cxnLst/>
              <a:rect r="r" b="b" t="t" l="l"/>
              <a:pathLst>
                <a:path h="3811157" w="2909794">
                  <a:moveTo>
                    <a:pt x="2785334" y="59690"/>
                  </a:moveTo>
                  <a:cubicBezTo>
                    <a:pt x="2820894" y="59690"/>
                    <a:pt x="2850104" y="88900"/>
                    <a:pt x="2850104" y="124460"/>
                  </a:cubicBezTo>
                  <a:lnTo>
                    <a:pt x="2850104" y="3686697"/>
                  </a:lnTo>
                  <a:cubicBezTo>
                    <a:pt x="2850104" y="3722257"/>
                    <a:pt x="2820894" y="3751467"/>
                    <a:pt x="2785334" y="3751467"/>
                  </a:cubicBezTo>
                  <a:lnTo>
                    <a:pt x="124460" y="3751467"/>
                  </a:lnTo>
                  <a:cubicBezTo>
                    <a:pt x="88900" y="3751467"/>
                    <a:pt x="59690" y="3722257"/>
                    <a:pt x="59690" y="368669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785334" y="59690"/>
                  </a:lnTo>
                  <a:moveTo>
                    <a:pt x="2785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686697"/>
                  </a:lnTo>
                  <a:cubicBezTo>
                    <a:pt x="0" y="3755277"/>
                    <a:pt x="55880" y="3811157"/>
                    <a:pt x="124460" y="3811157"/>
                  </a:cubicBezTo>
                  <a:lnTo>
                    <a:pt x="2785334" y="3811157"/>
                  </a:lnTo>
                  <a:cubicBezTo>
                    <a:pt x="2853914" y="3811157"/>
                    <a:pt x="2909794" y="3755277"/>
                    <a:pt x="2909794" y="3686697"/>
                  </a:cubicBezTo>
                  <a:lnTo>
                    <a:pt x="2909794" y="124460"/>
                  </a:lnTo>
                  <a:cubicBezTo>
                    <a:pt x="2909794" y="55880"/>
                    <a:pt x="2853914" y="0"/>
                    <a:pt x="2785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AutoShape 8" id="8"/>
          <p:cNvSpPr/>
          <p:nvPr/>
        </p:nvSpPr>
        <p:spPr>
          <a:xfrm>
            <a:off x="8776918" y="8585926"/>
            <a:ext cx="734165" cy="0"/>
          </a:xfrm>
          <a:prstGeom prst="line">
            <a:avLst/>
          </a:prstGeom>
          <a:ln cap="flat" w="952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2674916" y="3551988"/>
            <a:ext cx="4356733" cy="5706312"/>
            <a:chOff x="0" y="0"/>
            <a:chExt cx="2909794" cy="3811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09794" cy="3811157"/>
            </a:xfrm>
            <a:custGeom>
              <a:avLst/>
              <a:gdLst/>
              <a:ahLst/>
              <a:cxnLst/>
              <a:rect r="r" b="b" t="t" l="l"/>
              <a:pathLst>
                <a:path h="3811157" w="2909794">
                  <a:moveTo>
                    <a:pt x="2785334" y="59690"/>
                  </a:moveTo>
                  <a:cubicBezTo>
                    <a:pt x="2820894" y="59690"/>
                    <a:pt x="2850104" y="88900"/>
                    <a:pt x="2850104" y="124460"/>
                  </a:cubicBezTo>
                  <a:lnTo>
                    <a:pt x="2850104" y="3686697"/>
                  </a:lnTo>
                  <a:cubicBezTo>
                    <a:pt x="2850104" y="3722257"/>
                    <a:pt x="2820894" y="3751467"/>
                    <a:pt x="2785334" y="3751467"/>
                  </a:cubicBezTo>
                  <a:lnTo>
                    <a:pt x="124460" y="3751467"/>
                  </a:lnTo>
                  <a:cubicBezTo>
                    <a:pt x="88900" y="3751467"/>
                    <a:pt x="59690" y="3722257"/>
                    <a:pt x="59690" y="368669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785334" y="59690"/>
                  </a:lnTo>
                  <a:moveTo>
                    <a:pt x="2785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686697"/>
                  </a:lnTo>
                  <a:cubicBezTo>
                    <a:pt x="0" y="3755277"/>
                    <a:pt x="55880" y="3811157"/>
                    <a:pt x="124460" y="3811157"/>
                  </a:cubicBezTo>
                  <a:lnTo>
                    <a:pt x="2785334" y="3811157"/>
                  </a:lnTo>
                  <a:cubicBezTo>
                    <a:pt x="2853914" y="3811157"/>
                    <a:pt x="2909794" y="3755277"/>
                    <a:pt x="2909794" y="3686697"/>
                  </a:cubicBezTo>
                  <a:lnTo>
                    <a:pt x="2909794" y="124460"/>
                  </a:lnTo>
                  <a:cubicBezTo>
                    <a:pt x="2909794" y="55880"/>
                    <a:pt x="2853914" y="0"/>
                    <a:pt x="2785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AutoShape 11" id="11"/>
          <p:cNvSpPr/>
          <p:nvPr/>
        </p:nvSpPr>
        <p:spPr>
          <a:xfrm>
            <a:off x="14486200" y="8585926"/>
            <a:ext cx="734165" cy="0"/>
          </a:xfrm>
          <a:prstGeom prst="line">
            <a:avLst/>
          </a:prstGeom>
          <a:ln cap="flat" w="952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057464" y="4086253"/>
            <a:ext cx="1591638" cy="2114494"/>
          </a:xfrm>
          <a:custGeom>
            <a:avLst/>
            <a:gdLst/>
            <a:ahLst/>
            <a:cxnLst/>
            <a:rect r="r" b="b" t="t" l="l"/>
            <a:pathLst>
              <a:path h="2114494" w="1591638">
                <a:moveTo>
                  <a:pt x="0" y="0"/>
                </a:moveTo>
                <a:lnTo>
                  <a:pt x="1591637" y="0"/>
                </a:lnTo>
                <a:lnTo>
                  <a:pt x="1591637" y="2114494"/>
                </a:lnTo>
                <a:lnTo>
                  <a:pt x="0" y="2114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30548" y="3873641"/>
            <a:ext cx="1426903" cy="2578685"/>
          </a:xfrm>
          <a:custGeom>
            <a:avLst/>
            <a:gdLst/>
            <a:ahLst/>
            <a:cxnLst/>
            <a:rect r="r" b="b" t="t" l="l"/>
            <a:pathLst>
              <a:path h="2578685" w="1426903">
                <a:moveTo>
                  <a:pt x="0" y="0"/>
                </a:moveTo>
                <a:lnTo>
                  <a:pt x="1426904" y="0"/>
                </a:lnTo>
                <a:lnTo>
                  <a:pt x="1426904" y="2578685"/>
                </a:lnTo>
                <a:lnTo>
                  <a:pt x="0" y="2578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60117" y="3939933"/>
            <a:ext cx="1548075" cy="2086866"/>
          </a:xfrm>
          <a:custGeom>
            <a:avLst/>
            <a:gdLst/>
            <a:ahLst/>
            <a:cxnLst/>
            <a:rect r="r" b="b" t="t" l="l"/>
            <a:pathLst>
              <a:path h="2086866" w="1548075">
                <a:moveTo>
                  <a:pt x="0" y="0"/>
                </a:moveTo>
                <a:lnTo>
                  <a:pt x="1548075" y="0"/>
                </a:lnTo>
                <a:lnTo>
                  <a:pt x="1548075" y="2086866"/>
                </a:lnTo>
                <a:lnTo>
                  <a:pt x="0" y="2086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61244" y="1466013"/>
            <a:ext cx="1496551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 i="true" spc="-367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Primeiros passos da comunidade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8298" y="6204676"/>
            <a:ext cx="3851713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First International Logic Programming Conference (ICLP)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17862" y="6661876"/>
            <a:ext cx="3851713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Journal of Logic Programming (JLP)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27426" y="6433276"/>
            <a:ext cx="3851713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Association for Logic Programming (ALP)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16459"/>
            <a:ext cx="1996929" cy="773093"/>
            <a:chOff x="0" y="0"/>
            <a:chExt cx="1705838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10111" y="3916459"/>
            <a:ext cx="1841374" cy="773093"/>
            <a:chOff x="0" y="0"/>
            <a:chExt cx="1572958" cy="66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845061" y="4117268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4831643"/>
            <a:ext cx="1996929" cy="773093"/>
            <a:chOff x="0" y="0"/>
            <a:chExt cx="1705838" cy="660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110111" y="4831643"/>
            <a:ext cx="1841374" cy="773093"/>
            <a:chOff x="0" y="0"/>
            <a:chExt cx="1572958" cy="660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845061" y="5032452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5746827"/>
            <a:ext cx="1996929" cy="773093"/>
            <a:chOff x="0" y="0"/>
            <a:chExt cx="1705838" cy="66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110111" y="5746827"/>
            <a:ext cx="1841374" cy="773093"/>
            <a:chOff x="0" y="0"/>
            <a:chExt cx="1572958" cy="660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6662011"/>
            <a:ext cx="1996929" cy="773093"/>
            <a:chOff x="0" y="0"/>
            <a:chExt cx="1705838" cy="66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110111" y="6662011"/>
            <a:ext cx="1841374" cy="773093"/>
            <a:chOff x="0" y="0"/>
            <a:chExt cx="1572958" cy="66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3845061" y="6862821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28700" y="7577196"/>
            <a:ext cx="1996929" cy="773093"/>
            <a:chOff x="0" y="0"/>
            <a:chExt cx="1705838" cy="660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110111" y="7577196"/>
            <a:ext cx="1841374" cy="773093"/>
            <a:chOff x="0" y="0"/>
            <a:chExt cx="1572958" cy="66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3845061" y="7778005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5107040" y="3919596"/>
            <a:ext cx="1996929" cy="773093"/>
            <a:chOff x="0" y="0"/>
            <a:chExt cx="1705838" cy="660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188451" y="3919596"/>
            <a:ext cx="1841374" cy="773093"/>
            <a:chOff x="0" y="0"/>
            <a:chExt cx="1572958" cy="660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7923401" y="4120405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5107040" y="4834780"/>
            <a:ext cx="1996929" cy="773093"/>
            <a:chOff x="0" y="0"/>
            <a:chExt cx="1705838" cy="660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188451" y="4834780"/>
            <a:ext cx="1841374" cy="773093"/>
            <a:chOff x="0" y="0"/>
            <a:chExt cx="1572958" cy="660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7923401" y="5035589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5107040" y="5749964"/>
            <a:ext cx="1996929" cy="773093"/>
            <a:chOff x="0" y="0"/>
            <a:chExt cx="1705838" cy="660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188451" y="5749964"/>
            <a:ext cx="1841374" cy="773093"/>
            <a:chOff x="0" y="0"/>
            <a:chExt cx="1572958" cy="660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7923401" y="5950773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5107040" y="6665148"/>
            <a:ext cx="1996929" cy="773093"/>
            <a:chOff x="0" y="0"/>
            <a:chExt cx="1705838" cy="660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188451" y="6665148"/>
            <a:ext cx="1841374" cy="773093"/>
            <a:chOff x="0" y="0"/>
            <a:chExt cx="1572958" cy="660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7923401" y="6865957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5107040" y="7580332"/>
            <a:ext cx="1996929" cy="773093"/>
            <a:chOff x="0" y="0"/>
            <a:chExt cx="1705838" cy="660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188451" y="7580332"/>
            <a:ext cx="1841374" cy="773093"/>
            <a:chOff x="0" y="0"/>
            <a:chExt cx="1572958" cy="660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7923401" y="7781141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9258425" y="3916459"/>
            <a:ext cx="1996929" cy="773093"/>
            <a:chOff x="0" y="0"/>
            <a:chExt cx="1705838" cy="660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339836" y="3916459"/>
            <a:ext cx="1841374" cy="773093"/>
            <a:chOff x="0" y="0"/>
            <a:chExt cx="1572958" cy="660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258425" y="4831643"/>
            <a:ext cx="1996929" cy="773093"/>
            <a:chOff x="0" y="0"/>
            <a:chExt cx="1705838" cy="660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339836" y="4831643"/>
            <a:ext cx="1841374" cy="773093"/>
            <a:chOff x="0" y="0"/>
            <a:chExt cx="1572958" cy="660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59" id="59"/>
          <p:cNvSpPr/>
          <p:nvPr/>
        </p:nvSpPr>
        <p:spPr>
          <a:xfrm flipH="false" flipV="false" rot="0">
            <a:off x="12074786" y="5032452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9258425" y="5746827"/>
            <a:ext cx="1996929" cy="773093"/>
            <a:chOff x="0" y="0"/>
            <a:chExt cx="1705838" cy="660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339836" y="5746827"/>
            <a:ext cx="1841374" cy="773093"/>
            <a:chOff x="0" y="0"/>
            <a:chExt cx="1572958" cy="660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64" id="64"/>
          <p:cNvSpPr/>
          <p:nvPr/>
        </p:nvSpPr>
        <p:spPr>
          <a:xfrm flipH="false" flipV="false" rot="0">
            <a:off x="12074786" y="5947636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9258425" y="6662011"/>
            <a:ext cx="1996929" cy="773093"/>
            <a:chOff x="0" y="0"/>
            <a:chExt cx="1705838" cy="660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339836" y="6662011"/>
            <a:ext cx="1841374" cy="773093"/>
            <a:chOff x="0" y="0"/>
            <a:chExt cx="1572958" cy="660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258425" y="7577196"/>
            <a:ext cx="1996929" cy="773093"/>
            <a:chOff x="0" y="0"/>
            <a:chExt cx="1705838" cy="660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339836" y="7577196"/>
            <a:ext cx="1841374" cy="773093"/>
            <a:chOff x="0" y="0"/>
            <a:chExt cx="1572958" cy="660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2074786" y="7778005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3409810" y="3913323"/>
            <a:ext cx="1996929" cy="773093"/>
            <a:chOff x="0" y="0"/>
            <a:chExt cx="1705838" cy="660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5491222" y="3913323"/>
            <a:ext cx="1841374" cy="773093"/>
            <a:chOff x="0" y="0"/>
            <a:chExt cx="1572958" cy="660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78" id="78"/>
          <p:cNvSpPr/>
          <p:nvPr/>
        </p:nvSpPr>
        <p:spPr>
          <a:xfrm flipH="false" flipV="false" rot="0">
            <a:off x="16226171" y="4114132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13381235" y="4834780"/>
            <a:ext cx="1996929" cy="773093"/>
            <a:chOff x="0" y="0"/>
            <a:chExt cx="1705838" cy="660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409810" y="5743691"/>
            <a:ext cx="1996929" cy="773093"/>
            <a:chOff x="0" y="0"/>
            <a:chExt cx="1705838" cy="660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5491222" y="5743691"/>
            <a:ext cx="1841374" cy="773093"/>
            <a:chOff x="0" y="0"/>
            <a:chExt cx="1572958" cy="660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3409810" y="6658875"/>
            <a:ext cx="1996929" cy="773093"/>
            <a:chOff x="0" y="0"/>
            <a:chExt cx="1705838" cy="660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5491222" y="6658875"/>
            <a:ext cx="1841374" cy="773093"/>
            <a:chOff x="0" y="0"/>
            <a:chExt cx="1572958" cy="660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89" id="89"/>
          <p:cNvSpPr/>
          <p:nvPr/>
        </p:nvSpPr>
        <p:spPr>
          <a:xfrm flipH="false" flipV="false" rot="0">
            <a:off x="16226171" y="6859684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3409810" y="7574059"/>
            <a:ext cx="1996929" cy="773093"/>
            <a:chOff x="0" y="0"/>
            <a:chExt cx="1705838" cy="6604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05838" cy="660400"/>
            </a:xfrm>
            <a:custGeom>
              <a:avLst/>
              <a:gdLst/>
              <a:ahLst/>
              <a:cxnLst/>
              <a:rect r="r" b="b" t="t" l="l"/>
              <a:pathLst>
                <a:path h="660400" w="1705838">
                  <a:moveTo>
                    <a:pt x="158137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81378" y="0"/>
                  </a:lnTo>
                  <a:cubicBezTo>
                    <a:pt x="1649958" y="0"/>
                    <a:pt x="1705838" y="55880"/>
                    <a:pt x="1705838" y="124460"/>
                  </a:cubicBezTo>
                  <a:lnTo>
                    <a:pt x="1705838" y="535940"/>
                  </a:lnTo>
                  <a:cubicBezTo>
                    <a:pt x="1705838" y="604520"/>
                    <a:pt x="1649958" y="660400"/>
                    <a:pt x="1581378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5491222" y="7574059"/>
            <a:ext cx="1841374" cy="773093"/>
            <a:chOff x="0" y="0"/>
            <a:chExt cx="1572958" cy="660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94" id="94"/>
          <p:cNvSpPr/>
          <p:nvPr/>
        </p:nvSpPr>
        <p:spPr>
          <a:xfrm flipH="false" flipV="false" rot="0">
            <a:off x="16226171" y="7774868"/>
            <a:ext cx="371475" cy="371475"/>
          </a:xfrm>
          <a:custGeom>
            <a:avLst/>
            <a:gdLst/>
            <a:ahLst/>
            <a:cxnLst/>
            <a:rect r="r" b="b" t="t" l="l"/>
            <a:pathLst>
              <a:path h="371475" w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3845061" y="5944500"/>
            <a:ext cx="364721" cy="371475"/>
          </a:xfrm>
          <a:custGeom>
            <a:avLst/>
            <a:gdLst/>
            <a:ahLst/>
            <a:cxnLst/>
            <a:rect r="r" b="b" t="t" l="l"/>
            <a:pathLst>
              <a:path h="371475" w="364721">
                <a:moveTo>
                  <a:pt x="0" y="0"/>
                </a:moveTo>
                <a:lnTo>
                  <a:pt x="364721" y="0"/>
                </a:lnTo>
                <a:lnTo>
                  <a:pt x="364721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6" id="96"/>
          <p:cNvSpPr txBox="true"/>
          <p:nvPr/>
        </p:nvSpPr>
        <p:spPr>
          <a:xfrm rot="0">
            <a:off x="1028700" y="1028700"/>
            <a:ext cx="1404687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 spc="-367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Adoção do Padrão ISO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99772" y="4107743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BProlog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099772" y="5022927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Ciao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99772" y="5938111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DOS-Prolog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099772" y="6853296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ECLIPSe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99772" y="7768480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GNU Prolog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178112" y="4110880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JIProlog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178112" y="5026064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JLog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5178112" y="5941248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JScriptLog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5178112" y="6856432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jTrolog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5178112" y="7771616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Open Prolog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329497" y="4107743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Poplog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9329497" y="5022927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Scryer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9329497" y="5938111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SICStus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9329497" y="6853296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Strawberry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329497" y="7768480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SWI-Prolog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3480882" y="4104607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tuProlog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3343135" y="5019791"/>
            <a:ext cx="207312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Visual Prolog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480882" y="5934975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WIN-Prolog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480882" y="6850159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XSB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3480882" y="7765343"/>
            <a:ext cx="19258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YAP</a:t>
            </a:r>
          </a:p>
        </p:txBody>
      </p:sp>
      <p:sp>
        <p:nvSpPr>
          <p:cNvPr name="Freeform 117" id="117"/>
          <p:cNvSpPr/>
          <p:nvPr/>
        </p:nvSpPr>
        <p:spPr>
          <a:xfrm flipH="false" flipV="false" rot="0">
            <a:off x="12074504" y="4114132"/>
            <a:ext cx="364721" cy="371475"/>
          </a:xfrm>
          <a:custGeom>
            <a:avLst/>
            <a:gdLst/>
            <a:ahLst/>
            <a:cxnLst/>
            <a:rect r="r" b="b" t="t" l="l"/>
            <a:pathLst>
              <a:path h="371475" w="364721">
                <a:moveTo>
                  <a:pt x="0" y="0"/>
                </a:moveTo>
                <a:lnTo>
                  <a:pt x="364721" y="0"/>
                </a:lnTo>
                <a:lnTo>
                  <a:pt x="364721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12074504" y="6859684"/>
            <a:ext cx="364721" cy="371475"/>
          </a:xfrm>
          <a:custGeom>
            <a:avLst/>
            <a:gdLst/>
            <a:ahLst/>
            <a:cxnLst/>
            <a:rect r="r" b="b" t="t" l="l"/>
            <a:pathLst>
              <a:path h="371475" w="364721">
                <a:moveTo>
                  <a:pt x="0" y="0"/>
                </a:moveTo>
                <a:lnTo>
                  <a:pt x="364721" y="0"/>
                </a:lnTo>
                <a:lnTo>
                  <a:pt x="364721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16232925" y="5944500"/>
            <a:ext cx="364721" cy="371475"/>
          </a:xfrm>
          <a:custGeom>
            <a:avLst/>
            <a:gdLst/>
            <a:ahLst/>
            <a:cxnLst/>
            <a:rect r="r" b="b" t="t" l="l"/>
            <a:pathLst>
              <a:path h="371475" w="364721">
                <a:moveTo>
                  <a:pt x="0" y="0"/>
                </a:moveTo>
                <a:lnTo>
                  <a:pt x="364721" y="0"/>
                </a:lnTo>
                <a:lnTo>
                  <a:pt x="364721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0" id="120"/>
          <p:cNvGrpSpPr/>
          <p:nvPr/>
        </p:nvGrpSpPr>
        <p:grpSpPr>
          <a:xfrm rot="0">
            <a:off x="15491222" y="4828507"/>
            <a:ext cx="1841374" cy="773093"/>
            <a:chOff x="0" y="0"/>
            <a:chExt cx="1572958" cy="6604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572959" cy="660400"/>
            </a:xfrm>
            <a:custGeom>
              <a:avLst/>
              <a:gdLst/>
              <a:ahLst/>
              <a:cxnLst/>
              <a:rect r="r" b="b" t="t" l="l"/>
              <a:pathLst>
                <a:path h="660400" w="1572959">
                  <a:moveTo>
                    <a:pt x="144849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8499" y="0"/>
                  </a:lnTo>
                  <a:cubicBezTo>
                    <a:pt x="1517079" y="0"/>
                    <a:pt x="1572959" y="55880"/>
                    <a:pt x="1572959" y="124460"/>
                  </a:cubicBezTo>
                  <a:lnTo>
                    <a:pt x="1572959" y="535940"/>
                  </a:lnTo>
                  <a:cubicBezTo>
                    <a:pt x="1572959" y="604520"/>
                    <a:pt x="1517079" y="660400"/>
                    <a:pt x="1448499" y="66040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</p:grpSp>
      <p:sp>
        <p:nvSpPr>
          <p:cNvPr name="Freeform 122" id="122"/>
          <p:cNvSpPr/>
          <p:nvPr/>
        </p:nvSpPr>
        <p:spPr>
          <a:xfrm flipH="false" flipV="false" rot="0">
            <a:off x="16232925" y="5029316"/>
            <a:ext cx="364721" cy="371475"/>
          </a:xfrm>
          <a:custGeom>
            <a:avLst/>
            <a:gdLst/>
            <a:ahLst/>
            <a:cxnLst/>
            <a:rect r="r" b="b" t="t" l="l"/>
            <a:pathLst>
              <a:path h="371475" w="364721">
                <a:moveTo>
                  <a:pt x="0" y="0"/>
                </a:moveTo>
                <a:lnTo>
                  <a:pt x="364721" y="0"/>
                </a:lnTo>
                <a:lnTo>
                  <a:pt x="364721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812284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468685" y="2514600"/>
            <a:ext cx="9350630" cy="7480504"/>
          </a:xfrm>
          <a:custGeom>
            <a:avLst/>
            <a:gdLst/>
            <a:ahLst/>
            <a:cxnLst/>
            <a:rect r="r" b="b" t="t" l="l"/>
            <a:pathLst>
              <a:path h="7480504" w="9350630">
                <a:moveTo>
                  <a:pt x="0" y="0"/>
                </a:moveTo>
                <a:lnTo>
                  <a:pt x="9350630" y="0"/>
                </a:lnTo>
                <a:lnTo>
                  <a:pt x="9350630" y="7480504"/>
                </a:lnTo>
                <a:lnTo>
                  <a:pt x="0" y="7480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38724" y="1027648"/>
            <a:ext cx="1281055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As distribuições do Prolog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9743" y="3201676"/>
            <a:ext cx="6836320" cy="2574000"/>
            <a:chOff x="0" y="0"/>
            <a:chExt cx="6374795" cy="24002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74795" cy="2400228"/>
            </a:xfrm>
            <a:custGeom>
              <a:avLst/>
              <a:gdLst/>
              <a:ahLst/>
              <a:cxnLst/>
              <a:rect r="r" b="b" t="t" l="l"/>
              <a:pathLst>
                <a:path h="2400228" w="6374795">
                  <a:moveTo>
                    <a:pt x="6250334" y="59690"/>
                  </a:moveTo>
                  <a:cubicBezTo>
                    <a:pt x="6285895" y="59690"/>
                    <a:pt x="6315104" y="88900"/>
                    <a:pt x="6315104" y="124460"/>
                  </a:cubicBezTo>
                  <a:lnTo>
                    <a:pt x="6315104" y="2275767"/>
                  </a:lnTo>
                  <a:cubicBezTo>
                    <a:pt x="6315104" y="2311328"/>
                    <a:pt x="6285895" y="2340537"/>
                    <a:pt x="6250334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250334" y="59690"/>
                  </a:lnTo>
                  <a:moveTo>
                    <a:pt x="6250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250335" y="2400228"/>
                  </a:lnTo>
                  <a:cubicBezTo>
                    <a:pt x="6318915" y="2400228"/>
                    <a:pt x="6374795" y="2344347"/>
                    <a:pt x="6374795" y="2275767"/>
                  </a:cubicBezTo>
                  <a:lnTo>
                    <a:pt x="6374795" y="124460"/>
                  </a:lnTo>
                  <a:cubicBezTo>
                    <a:pt x="6374795" y="55880"/>
                    <a:pt x="6318915" y="0"/>
                    <a:pt x="6250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1194" y="3620127"/>
            <a:ext cx="1737098" cy="1737098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52143" y="6423848"/>
            <a:ext cx="6683920" cy="2574000"/>
            <a:chOff x="0" y="0"/>
            <a:chExt cx="6232683" cy="24002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32684" cy="2400228"/>
            </a:xfrm>
            <a:custGeom>
              <a:avLst/>
              <a:gdLst/>
              <a:ahLst/>
              <a:cxnLst/>
              <a:rect r="r" b="b" t="t" l="l"/>
              <a:pathLst>
                <a:path h="2400228" w="6232684">
                  <a:moveTo>
                    <a:pt x="6108223" y="59690"/>
                  </a:moveTo>
                  <a:cubicBezTo>
                    <a:pt x="6143783" y="59690"/>
                    <a:pt x="6172993" y="88900"/>
                    <a:pt x="6172993" y="124460"/>
                  </a:cubicBezTo>
                  <a:lnTo>
                    <a:pt x="6172993" y="2275767"/>
                  </a:lnTo>
                  <a:cubicBezTo>
                    <a:pt x="6172993" y="2311328"/>
                    <a:pt x="6143783" y="2340537"/>
                    <a:pt x="6108223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108223" y="59690"/>
                  </a:lnTo>
                  <a:moveTo>
                    <a:pt x="610822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108223" y="2400228"/>
                  </a:lnTo>
                  <a:cubicBezTo>
                    <a:pt x="6176803" y="2400228"/>
                    <a:pt x="6232684" y="2344347"/>
                    <a:pt x="6232684" y="2275767"/>
                  </a:cubicBezTo>
                  <a:lnTo>
                    <a:pt x="6232684" y="124460"/>
                  </a:lnTo>
                  <a:cubicBezTo>
                    <a:pt x="6232683" y="55880"/>
                    <a:pt x="6176803" y="0"/>
                    <a:pt x="6108223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1231194" y="6842299"/>
            <a:ext cx="1737098" cy="1737098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23712" y="3201676"/>
            <a:ext cx="6833094" cy="2574000"/>
            <a:chOff x="0" y="0"/>
            <a:chExt cx="6371786" cy="24002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71786" cy="2400228"/>
            </a:xfrm>
            <a:custGeom>
              <a:avLst/>
              <a:gdLst/>
              <a:ahLst/>
              <a:cxnLst/>
              <a:rect r="r" b="b" t="t" l="l"/>
              <a:pathLst>
                <a:path h="2400228" w="6371786">
                  <a:moveTo>
                    <a:pt x="6247326" y="59690"/>
                  </a:moveTo>
                  <a:cubicBezTo>
                    <a:pt x="6282886" y="59690"/>
                    <a:pt x="6312096" y="88900"/>
                    <a:pt x="6312096" y="124460"/>
                  </a:cubicBezTo>
                  <a:lnTo>
                    <a:pt x="6312096" y="2275767"/>
                  </a:lnTo>
                  <a:cubicBezTo>
                    <a:pt x="6312096" y="2311328"/>
                    <a:pt x="6282886" y="2340537"/>
                    <a:pt x="6247326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247326" y="59690"/>
                  </a:lnTo>
                  <a:moveTo>
                    <a:pt x="62473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247326" y="2400228"/>
                  </a:lnTo>
                  <a:cubicBezTo>
                    <a:pt x="6315906" y="2400228"/>
                    <a:pt x="6371786" y="2344347"/>
                    <a:pt x="6371786" y="2275767"/>
                  </a:cubicBezTo>
                  <a:lnTo>
                    <a:pt x="6371786" y="124460"/>
                  </a:lnTo>
                  <a:cubicBezTo>
                    <a:pt x="6371786" y="55880"/>
                    <a:pt x="6315906" y="0"/>
                    <a:pt x="6247326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9355163" y="3620127"/>
            <a:ext cx="1737098" cy="1737098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23712" y="6423848"/>
            <a:ext cx="6833094" cy="2574000"/>
            <a:chOff x="0" y="0"/>
            <a:chExt cx="6371786" cy="24002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71786" cy="2400228"/>
            </a:xfrm>
            <a:custGeom>
              <a:avLst/>
              <a:gdLst/>
              <a:ahLst/>
              <a:cxnLst/>
              <a:rect r="r" b="b" t="t" l="l"/>
              <a:pathLst>
                <a:path h="2400228" w="6371786">
                  <a:moveTo>
                    <a:pt x="6247326" y="59690"/>
                  </a:moveTo>
                  <a:cubicBezTo>
                    <a:pt x="6282886" y="59690"/>
                    <a:pt x="6312096" y="88900"/>
                    <a:pt x="6312096" y="124460"/>
                  </a:cubicBezTo>
                  <a:lnTo>
                    <a:pt x="6312096" y="2275767"/>
                  </a:lnTo>
                  <a:cubicBezTo>
                    <a:pt x="6312096" y="2311328"/>
                    <a:pt x="6282886" y="2340537"/>
                    <a:pt x="6247326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247326" y="59690"/>
                  </a:lnTo>
                  <a:moveTo>
                    <a:pt x="62473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247326" y="2400228"/>
                  </a:lnTo>
                  <a:cubicBezTo>
                    <a:pt x="6315906" y="2400228"/>
                    <a:pt x="6371786" y="2344347"/>
                    <a:pt x="6371786" y="2275767"/>
                  </a:cubicBezTo>
                  <a:lnTo>
                    <a:pt x="6371786" y="124460"/>
                  </a:lnTo>
                  <a:cubicBezTo>
                    <a:pt x="6371786" y="55880"/>
                    <a:pt x="6315906" y="0"/>
                    <a:pt x="6247326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-5400000">
            <a:off x="9355163" y="6842299"/>
            <a:ext cx="1737098" cy="1737098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61244" y="843558"/>
            <a:ext cx="149655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Tipos padrões do ISO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6429" y="4269601"/>
            <a:ext cx="124662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Integer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38953" y="4136251"/>
            <a:ext cx="540405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Valores máximos e mínimos variam entre implementações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6429" y="7158398"/>
            <a:ext cx="124662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b="true" sz="24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Floating point number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38953" y="7015523"/>
            <a:ext cx="540405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Uma maneira específica de representar números de ponto flutuante não é definida, mas o padrão </a:t>
            </a:r>
            <a:r>
              <a:rPr lang="en-US" sz="2300" i="true">
                <a:solidFill>
                  <a:srgbClr val="333333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double</a:t>
            </a: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IEEE é o mais comum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00399" y="4269601"/>
            <a:ext cx="124662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8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Atom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62922" y="3450451"/>
            <a:ext cx="5363834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Fórmula atômica, da lógica.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Representa uma constante simbólica,representando um único conceito</a:t>
            </a:r>
          </a:p>
          <a:p>
            <a:pPr algn="l">
              <a:lnSpc>
                <a:spcPts val="2760"/>
              </a:lnSpc>
            </a:pPr>
            <a:r>
              <a:rPr lang="en-US" sz="2300" i="true">
                <a:solidFill>
                  <a:srgbClr val="333333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Garbage Collection</a:t>
            </a: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de atoms pode não estar disponível.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00399" y="7425098"/>
            <a:ext cx="124662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19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Compound Term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63711" y="6672623"/>
            <a:ext cx="5448376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Composto por um functor (atom que nomeia a estrutura) e argumentos.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Número de argumentos é chamado de </a:t>
            </a:r>
            <a:r>
              <a:rPr lang="en-US" sz="2300" i="true">
                <a:solidFill>
                  <a:srgbClr val="333333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arity.</a:t>
            </a:r>
          </a:p>
          <a:p>
            <a:pPr algn="l">
              <a:lnSpc>
                <a:spcPts val="2760"/>
              </a:lnSpc>
            </a:pPr>
            <a:r>
              <a:rPr lang="en-US" sz="2300" i="true">
                <a:solidFill>
                  <a:srgbClr val="333333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Arity</a:t>
            </a: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máxima pode ser limitada e variar de acordo com implementação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53797" y="104298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979653" y="1908922"/>
            <a:ext cx="12328693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b="true" sz="9499" i="true" spc="-465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Pontos principais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5475949"/>
            <a:ext cx="7314595" cy="2281345"/>
            <a:chOff x="0" y="0"/>
            <a:chExt cx="6503969" cy="2028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03969" cy="2028520"/>
            </a:xfrm>
            <a:custGeom>
              <a:avLst/>
              <a:gdLst/>
              <a:ahLst/>
              <a:cxnLst/>
              <a:rect r="r" b="b" t="t" l="l"/>
              <a:pathLst>
                <a:path h="2028520" w="6503969">
                  <a:moveTo>
                    <a:pt x="6379509" y="59690"/>
                  </a:moveTo>
                  <a:cubicBezTo>
                    <a:pt x="6415069" y="59690"/>
                    <a:pt x="6444279" y="88900"/>
                    <a:pt x="6444279" y="124460"/>
                  </a:cubicBezTo>
                  <a:lnTo>
                    <a:pt x="6444279" y="1904060"/>
                  </a:lnTo>
                  <a:cubicBezTo>
                    <a:pt x="6444279" y="1939620"/>
                    <a:pt x="6415069" y="1968830"/>
                    <a:pt x="6379509" y="1968830"/>
                  </a:cubicBezTo>
                  <a:lnTo>
                    <a:pt x="124460" y="1968830"/>
                  </a:lnTo>
                  <a:cubicBezTo>
                    <a:pt x="88900" y="1968830"/>
                    <a:pt x="59690" y="1939620"/>
                    <a:pt x="59690" y="190406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379509" y="59690"/>
                  </a:lnTo>
                  <a:moveTo>
                    <a:pt x="63795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904060"/>
                  </a:lnTo>
                  <a:cubicBezTo>
                    <a:pt x="0" y="1972640"/>
                    <a:pt x="55880" y="2028520"/>
                    <a:pt x="124460" y="2028520"/>
                  </a:cubicBezTo>
                  <a:lnTo>
                    <a:pt x="6379509" y="2028520"/>
                  </a:lnTo>
                  <a:cubicBezTo>
                    <a:pt x="6448089" y="2028520"/>
                    <a:pt x="6503969" y="1972640"/>
                    <a:pt x="6503969" y="1904060"/>
                  </a:cubicBezTo>
                  <a:lnTo>
                    <a:pt x="6503969" y="124460"/>
                  </a:lnTo>
                  <a:cubicBezTo>
                    <a:pt x="6503969" y="55880"/>
                    <a:pt x="6448089" y="0"/>
                    <a:pt x="6379509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44705" y="5475949"/>
            <a:ext cx="7314595" cy="2281345"/>
            <a:chOff x="0" y="0"/>
            <a:chExt cx="6503969" cy="2028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03969" cy="2028520"/>
            </a:xfrm>
            <a:custGeom>
              <a:avLst/>
              <a:gdLst/>
              <a:ahLst/>
              <a:cxnLst/>
              <a:rect r="r" b="b" t="t" l="l"/>
              <a:pathLst>
                <a:path h="2028520" w="6503969">
                  <a:moveTo>
                    <a:pt x="6379509" y="59690"/>
                  </a:moveTo>
                  <a:cubicBezTo>
                    <a:pt x="6415069" y="59690"/>
                    <a:pt x="6444279" y="88900"/>
                    <a:pt x="6444279" y="124460"/>
                  </a:cubicBezTo>
                  <a:lnTo>
                    <a:pt x="6444279" y="1904060"/>
                  </a:lnTo>
                  <a:cubicBezTo>
                    <a:pt x="6444279" y="1939620"/>
                    <a:pt x="6415069" y="1968830"/>
                    <a:pt x="6379509" y="1968830"/>
                  </a:cubicBezTo>
                  <a:lnTo>
                    <a:pt x="124460" y="1968830"/>
                  </a:lnTo>
                  <a:cubicBezTo>
                    <a:pt x="88900" y="1968830"/>
                    <a:pt x="59690" y="1939620"/>
                    <a:pt x="59690" y="190406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379509" y="59690"/>
                  </a:lnTo>
                  <a:moveTo>
                    <a:pt x="63795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904060"/>
                  </a:lnTo>
                  <a:cubicBezTo>
                    <a:pt x="0" y="1972640"/>
                    <a:pt x="55880" y="2028520"/>
                    <a:pt x="124460" y="2028520"/>
                  </a:cubicBezTo>
                  <a:lnTo>
                    <a:pt x="6379509" y="2028520"/>
                  </a:lnTo>
                  <a:cubicBezTo>
                    <a:pt x="6448089" y="2028520"/>
                    <a:pt x="6503969" y="1972640"/>
                    <a:pt x="6503969" y="1904060"/>
                  </a:cubicBezTo>
                  <a:lnTo>
                    <a:pt x="6503969" y="124460"/>
                  </a:lnTo>
                  <a:cubicBezTo>
                    <a:pt x="6503969" y="55880"/>
                    <a:pt x="6448089" y="0"/>
                    <a:pt x="6379509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32131" y="4484594"/>
            <a:ext cx="3895045" cy="773093"/>
            <a:chOff x="0" y="0"/>
            <a:chExt cx="3411676" cy="6771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11676" cy="677154"/>
            </a:xfrm>
            <a:custGeom>
              <a:avLst/>
              <a:gdLst/>
              <a:ahLst/>
              <a:cxnLst/>
              <a:rect r="r" b="b" t="t" l="l"/>
              <a:pathLst>
                <a:path h="677154" w="3411676">
                  <a:moveTo>
                    <a:pt x="3287216" y="677153"/>
                  </a:moveTo>
                  <a:lnTo>
                    <a:pt x="124460" y="677153"/>
                  </a:lnTo>
                  <a:cubicBezTo>
                    <a:pt x="55880" y="677153"/>
                    <a:pt x="0" y="621274"/>
                    <a:pt x="0" y="55269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52694"/>
                  </a:lnTo>
                  <a:cubicBezTo>
                    <a:pt x="3411676" y="621274"/>
                    <a:pt x="3355796" y="677154"/>
                    <a:pt x="3287216" y="677154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44705" y="4484594"/>
            <a:ext cx="3993857" cy="773093"/>
            <a:chOff x="0" y="0"/>
            <a:chExt cx="3411676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11676" cy="660400"/>
            </a:xfrm>
            <a:custGeom>
              <a:avLst/>
              <a:gdLst/>
              <a:ahLst/>
              <a:cxnLst/>
              <a:rect r="r" b="b" t="t" l="l"/>
              <a:pathLst>
                <a:path h="660400" w="3411676">
                  <a:moveTo>
                    <a:pt x="3287216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87216" y="0"/>
                  </a:lnTo>
                  <a:cubicBezTo>
                    <a:pt x="3355796" y="0"/>
                    <a:pt x="3411676" y="55880"/>
                    <a:pt x="3411676" y="124460"/>
                  </a:cubicBezTo>
                  <a:lnTo>
                    <a:pt x="3411676" y="535940"/>
                  </a:lnTo>
                  <a:cubicBezTo>
                    <a:pt x="3411676" y="604520"/>
                    <a:pt x="3355796" y="660400"/>
                    <a:pt x="3287216" y="66040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53797" y="4547291"/>
            <a:ext cx="385171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Características de maior compatibilidade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15777" y="4675878"/>
            <a:ext cx="385171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Discrepâncias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9343" y="5935585"/>
            <a:ext cx="5673308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Sistemas de modulo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Programação </a:t>
            </a:r>
            <a:r>
              <a:rPr lang="en-US" sz="2999" i="true">
                <a:solidFill>
                  <a:srgbClr val="333333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multithread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Tipagem dinâmica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65348" y="5935585"/>
            <a:ext cx="5673308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Estruturas de dados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Estratégias de indexação</a:t>
            </a:r>
          </a:p>
          <a:p>
            <a:pPr algn="l" marL="647697" indent="-3238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Variáveis globais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0957"/>
            <a:ext cx="1444000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b="true" sz="6399" i="true" spc="-313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Influência em outras linguâgens lógicas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108870"/>
            <a:ext cx="4812313" cy="297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Linguagem lógica funcional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Tentativa de solução para os problemas de Prolog e Haskell</a:t>
            </a:r>
          </a:p>
          <a:p>
            <a:pPr algn="l">
              <a:lnSpc>
                <a:spcPts val="3450"/>
              </a:lnSpc>
            </a:pPr>
          </a:p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Incorpora tipagem forte, estática e polimórfica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7843" y="5086350"/>
            <a:ext cx="4812313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Máquina Abstrata Java baseada na </a:t>
            </a: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WAM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Verificação de tipos em uma classe sendo fornecida por um script em Prolog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45507" y="5086350"/>
            <a:ext cx="4812313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Baseado na </a:t>
            </a:r>
            <a:r>
              <a:rPr lang="en-US" sz="2499" i="true">
                <a:solidFill>
                  <a:srgbClr val="333333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linguagem de restrição simultânea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derivada de Prolog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Primeiro interpretador feito em Prolog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32508"/>
            <a:ext cx="481231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Mercury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7843" y="3732508"/>
            <a:ext cx="481231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Java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45507" y="3732508"/>
            <a:ext cx="481231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Erlang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75835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28700" y="4923133"/>
            <a:ext cx="481231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737843" y="4908845"/>
            <a:ext cx="481231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2445507" y="4894558"/>
            <a:ext cx="481231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088" y="1592531"/>
            <a:ext cx="11293394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O futuro do Prolog - análise SWOT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56677"/>
            <a:ext cx="16230600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Análise sobre os próximos passos da linguagem Prolog, refletindo sobre como ela pode evoluir diante das transformações tecnológicas atuais. Por meio de uma análise </a:t>
            </a: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SWOT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(Forças, Fraquezas, Oportunidades e Ameaças), a proposta é entender como Prolog pode se adaptar e continuar contribuindo, especialmente em áreas como inteligência artificial, representação de conhecimento e raciocínio automatizado.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104298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442819" y="3875022"/>
            <a:ext cx="3559327" cy="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>
            <a:off x="1028700" y="927258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7249" y="3397928"/>
            <a:ext cx="6596835" cy="2574000"/>
            <a:chOff x="0" y="0"/>
            <a:chExt cx="6151477" cy="24002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97249" y="6314495"/>
            <a:ext cx="6596835" cy="2574000"/>
            <a:chOff x="0" y="0"/>
            <a:chExt cx="6151477" cy="24002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662465" y="3397928"/>
            <a:ext cx="6596835" cy="2574000"/>
            <a:chOff x="0" y="0"/>
            <a:chExt cx="6151477" cy="24002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62465" y="6324354"/>
            <a:ext cx="6596835" cy="2574000"/>
            <a:chOff x="0" y="0"/>
            <a:chExt cx="6151477" cy="24002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51477" cy="2400228"/>
            </a:xfrm>
            <a:custGeom>
              <a:avLst/>
              <a:gdLst/>
              <a:ahLst/>
              <a:cxnLst/>
              <a:rect r="r" b="b" t="t" l="l"/>
              <a:pathLst>
                <a:path h="2400228" w="6151477">
                  <a:moveTo>
                    <a:pt x="6027017" y="59690"/>
                  </a:moveTo>
                  <a:cubicBezTo>
                    <a:pt x="6062577" y="59690"/>
                    <a:pt x="6091787" y="88900"/>
                    <a:pt x="6091787" y="124460"/>
                  </a:cubicBezTo>
                  <a:lnTo>
                    <a:pt x="6091787" y="2275767"/>
                  </a:lnTo>
                  <a:cubicBezTo>
                    <a:pt x="6091787" y="2311328"/>
                    <a:pt x="6062577" y="2340537"/>
                    <a:pt x="6027017" y="2340537"/>
                  </a:cubicBezTo>
                  <a:lnTo>
                    <a:pt x="124460" y="2340537"/>
                  </a:lnTo>
                  <a:cubicBezTo>
                    <a:pt x="88900" y="2340537"/>
                    <a:pt x="59690" y="2311328"/>
                    <a:pt x="59690" y="22757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027017" y="59690"/>
                  </a:lnTo>
                  <a:moveTo>
                    <a:pt x="6027017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75767"/>
                  </a:lnTo>
                  <a:cubicBezTo>
                    <a:pt x="0" y="2344347"/>
                    <a:pt x="55880" y="2400228"/>
                    <a:pt x="124460" y="2400228"/>
                  </a:cubicBezTo>
                  <a:lnTo>
                    <a:pt x="6027017" y="2400228"/>
                  </a:lnTo>
                  <a:cubicBezTo>
                    <a:pt x="6095597" y="2400228"/>
                    <a:pt x="6151477" y="2344347"/>
                    <a:pt x="6151477" y="2275767"/>
                  </a:cubicBezTo>
                  <a:lnTo>
                    <a:pt x="6151477" y="124460"/>
                  </a:lnTo>
                  <a:cubicBezTo>
                    <a:pt x="6151477" y="55880"/>
                    <a:pt x="6095597" y="0"/>
                    <a:pt x="60270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1028700" y="3816380"/>
            <a:ext cx="1737098" cy="1737098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1028700" y="6732946"/>
            <a:ext cx="1737098" cy="1737098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-5400000">
            <a:off x="9793916" y="3816380"/>
            <a:ext cx="1737098" cy="1737098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-5400000">
            <a:off x="9793916" y="6732946"/>
            <a:ext cx="1737098" cy="1737098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AutoShape 18" id="18"/>
          <p:cNvSpPr/>
          <p:nvPr/>
        </p:nvSpPr>
        <p:spPr>
          <a:xfrm>
            <a:off x="1028700" y="104298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365971" y="4243304"/>
            <a:ext cx="1062557" cy="883250"/>
          </a:xfrm>
          <a:custGeom>
            <a:avLst/>
            <a:gdLst/>
            <a:ahLst/>
            <a:cxnLst/>
            <a:rect r="r" b="b" t="t" l="l"/>
            <a:pathLst>
              <a:path h="883250" w="1062557">
                <a:moveTo>
                  <a:pt x="0" y="0"/>
                </a:moveTo>
                <a:lnTo>
                  <a:pt x="1062556" y="0"/>
                </a:lnTo>
                <a:lnTo>
                  <a:pt x="1062556" y="883250"/>
                </a:lnTo>
                <a:lnTo>
                  <a:pt x="0" y="88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65971" y="7169729"/>
            <a:ext cx="1062557" cy="883250"/>
          </a:xfrm>
          <a:custGeom>
            <a:avLst/>
            <a:gdLst/>
            <a:ahLst/>
            <a:cxnLst/>
            <a:rect r="r" b="b" t="t" l="l"/>
            <a:pathLst>
              <a:path h="883250" w="1062557">
                <a:moveTo>
                  <a:pt x="0" y="0"/>
                </a:moveTo>
                <a:lnTo>
                  <a:pt x="1062556" y="0"/>
                </a:lnTo>
                <a:lnTo>
                  <a:pt x="1062556" y="883250"/>
                </a:lnTo>
                <a:lnTo>
                  <a:pt x="0" y="88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61244" y="1584664"/>
            <a:ext cx="149655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Forças e fraquezas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65798" y="3989604"/>
            <a:ext cx="509574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Paradigma declarativo: descreve o “o que” em vez do “como”.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Ideal para IA e raciocínio lógico.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Código conciso e expressivo.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47522" y="3934968"/>
            <a:ext cx="5749543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Múltiplas implementações sem padrão unificado.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Curva de aprendizado íngreme.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Integração limitada com ferramentas modernas.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50089" y="6746019"/>
            <a:ext cx="5144408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Prolog tem uma curva de aprendizado difícil e falta padronização entre suas implementações, o que limita a portabilidade e integração com outras tecnologias.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86080" y="6723421"/>
            <a:ext cx="5009934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Prolog é forte na representação de conhecimento e raciocínio lógico, graças ao seu estilo declarativo. É eficiente em aplicações de inteligência artificial.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238382" y="7177412"/>
            <a:ext cx="848166" cy="848166"/>
          </a:xfrm>
          <a:custGeom>
            <a:avLst/>
            <a:gdLst/>
            <a:ahLst/>
            <a:cxnLst/>
            <a:rect r="r" b="b" t="t" l="l"/>
            <a:pathLst>
              <a:path h="848166" w="848166">
                <a:moveTo>
                  <a:pt x="0" y="0"/>
                </a:moveTo>
                <a:lnTo>
                  <a:pt x="848167" y="0"/>
                </a:lnTo>
                <a:lnTo>
                  <a:pt x="848167" y="848166"/>
                </a:lnTo>
                <a:lnTo>
                  <a:pt x="0" y="848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238382" y="4260846"/>
            <a:ext cx="848166" cy="848166"/>
          </a:xfrm>
          <a:custGeom>
            <a:avLst/>
            <a:gdLst/>
            <a:ahLst/>
            <a:cxnLst/>
            <a:rect r="r" b="b" t="t" l="l"/>
            <a:pathLst>
              <a:path h="848166" w="848166">
                <a:moveTo>
                  <a:pt x="0" y="0"/>
                </a:moveTo>
                <a:lnTo>
                  <a:pt x="848167" y="0"/>
                </a:lnTo>
                <a:lnTo>
                  <a:pt x="848167" y="848166"/>
                </a:lnTo>
                <a:lnTo>
                  <a:pt x="0" y="848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47664" y="5147009"/>
            <a:ext cx="4586693" cy="3463591"/>
            <a:chOff x="0" y="0"/>
            <a:chExt cx="2909794" cy="2197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794" cy="2197300"/>
            </a:xfrm>
            <a:custGeom>
              <a:avLst/>
              <a:gdLst/>
              <a:ahLst/>
              <a:cxnLst/>
              <a:rect r="r" b="b" t="t" l="l"/>
              <a:pathLst>
                <a:path h="2197300" w="2909794">
                  <a:moveTo>
                    <a:pt x="2785334" y="59690"/>
                  </a:moveTo>
                  <a:cubicBezTo>
                    <a:pt x="2820894" y="59690"/>
                    <a:pt x="2850104" y="88900"/>
                    <a:pt x="2850104" y="124460"/>
                  </a:cubicBezTo>
                  <a:lnTo>
                    <a:pt x="2850104" y="2072840"/>
                  </a:lnTo>
                  <a:cubicBezTo>
                    <a:pt x="2850104" y="2108400"/>
                    <a:pt x="2820894" y="2137609"/>
                    <a:pt x="2785334" y="2137609"/>
                  </a:cubicBezTo>
                  <a:lnTo>
                    <a:pt x="124460" y="2137609"/>
                  </a:lnTo>
                  <a:cubicBezTo>
                    <a:pt x="88900" y="2137609"/>
                    <a:pt x="59690" y="2108400"/>
                    <a:pt x="59690" y="20728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785334" y="59690"/>
                  </a:lnTo>
                  <a:moveTo>
                    <a:pt x="2785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72840"/>
                  </a:lnTo>
                  <a:cubicBezTo>
                    <a:pt x="0" y="2141419"/>
                    <a:pt x="55880" y="2197300"/>
                    <a:pt x="124460" y="2197300"/>
                  </a:cubicBezTo>
                  <a:lnTo>
                    <a:pt x="2785334" y="2197300"/>
                  </a:lnTo>
                  <a:cubicBezTo>
                    <a:pt x="2853914" y="2197300"/>
                    <a:pt x="2909794" y="2141419"/>
                    <a:pt x="2909794" y="2072840"/>
                  </a:cubicBezTo>
                  <a:lnTo>
                    <a:pt x="2909794" y="124460"/>
                  </a:lnTo>
                  <a:cubicBezTo>
                    <a:pt x="2909794" y="55880"/>
                    <a:pt x="2853914" y="0"/>
                    <a:pt x="2785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6543" y="3862541"/>
            <a:ext cx="2568935" cy="2568935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5711" y="5147009"/>
            <a:ext cx="4586693" cy="3463591"/>
            <a:chOff x="0" y="0"/>
            <a:chExt cx="2909794" cy="21972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09794" cy="2197300"/>
            </a:xfrm>
            <a:custGeom>
              <a:avLst/>
              <a:gdLst/>
              <a:ahLst/>
              <a:cxnLst/>
              <a:rect r="r" b="b" t="t" l="l"/>
              <a:pathLst>
                <a:path h="2197300" w="2909794">
                  <a:moveTo>
                    <a:pt x="2785334" y="59690"/>
                  </a:moveTo>
                  <a:cubicBezTo>
                    <a:pt x="2820894" y="59690"/>
                    <a:pt x="2850104" y="88900"/>
                    <a:pt x="2850104" y="124460"/>
                  </a:cubicBezTo>
                  <a:lnTo>
                    <a:pt x="2850104" y="2072840"/>
                  </a:lnTo>
                  <a:cubicBezTo>
                    <a:pt x="2850104" y="2108400"/>
                    <a:pt x="2820894" y="2137609"/>
                    <a:pt x="2785334" y="2137609"/>
                  </a:cubicBezTo>
                  <a:lnTo>
                    <a:pt x="124460" y="2137609"/>
                  </a:lnTo>
                  <a:cubicBezTo>
                    <a:pt x="88900" y="2137609"/>
                    <a:pt x="59690" y="2108400"/>
                    <a:pt x="59690" y="20728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785334" y="59690"/>
                  </a:lnTo>
                  <a:moveTo>
                    <a:pt x="2785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72840"/>
                  </a:lnTo>
                  <a:cubicBezTo>
                    <a:pt x="0" y="2141419"/>
                    <a:pt x="55880" y="2197300"/>
                    <a:pt x="124460" y="2197300"/>
                  </a:cubicBezTo>
                  <a:lnTo>
                    <a:pt x="2785334" y="2197300"/>
                  </a:lnTo>
                  <a:cubicBezTo>
                    <a:pt x="2853914" y="2197300"/>
                    <a:pt x="2909794" y="2141419"/>
                    <a:pt x="2909794" y="2072840"/>
                  </a:cubicBezTo>
                  <a:lnTo>
                    <a:pt x="2909794" y="124460"/>
                  </a:lnTo>
                  <a:cubicBezTo>
                    <a:pt x="2909794" y="55880"/>
                    <a:pt x="2853914" y="0"/>
                    <a:pt x="2785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72607" y="5147009"/>
            <a:ext cx="4586693" cy="3463591"/>
            <a:chOff x="0" y="0"/>
            <a:chExt cx="2909794" cy="21972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09794" cy="2197300"/>
            </a:xfrm>
            <a:custGeom>
              <a:avLst/>
              <a:gdLst/>
              <a:ahLst/>
              <a:cxnLst/>
              <a:rect r="r" b="b" t="t" l="l"/>
              <a:pathLst>
                <a:path h="2197300" w="2909794">
                  <a:moveTo>
                    <a:pt x="2785334" y="59690"/>
                  </a:moveTo>
                  <a:cubicBezTo>
                    <a:pt x="2820894" y="59690"/>
                    <a:pt x="2850104" y="88900"/>
                    <a:pt x="2850104" y="124460"/>
                  </a:cubicBezTo>
                  <a:lnTo>
                    <a:pt x="2850104" y="2072840"/>
                  </a:lnTo>
                  <a:cubicBezTo>
                    <a:pt x="2850104" y="2108400"/>
                    <a:pt x="2820894" y="2137609"/>
                    <a:pt x="2785334" y="2137609"/>
                  </a:cubicBezTo>
                  <a:lnTo>
                    <a:pt x="124460" y="2137609"/>
                  </a:lnTo>
                  <a:cubicBezTo>
                    <a:pt x="88900" y="2137609"/>
                    <a:pt x="59690" y="2108400"/>
                    <a:pt x="59690" y="207284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785334" y="59690"/>
                  </a:lnTo>
                  <a:moveTo>
                    <a:pt x="2785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72840"/>
                  </a:lnTo>
                  <a:cubicBezTo>
                    <a:pt x="0" y="2141419"/>
                    <a:pt x="55880" y="2197300"/>
                    <a:pt x="124460" y="2197300"/>
                  </a:cubicBezTo>
                  <a:lnTo>
                    <a:pt x="2785334" y="2197300"/>
                  </a:lnTo>
                  <a:cubicBezTo>
                    <a:pt x="2853914" y="2197300"/>
                    <a:pt x="2909794" y="2141419"/>
                    <a:pt x="2909794" y="2072840"/>
                  </a:cubicBezTo>
                  <a:lnTo>
                    <a:pt x="2909794" y="124460"/>
                  </a:lnTo>
                  <a:cubicBezTo>
                    <a:pt x="2909794" y="55880"/>
                    <a:pt x="2853914" y="0"/>
                    <a:pt x="2785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34590" y="3862541"/>
            <a:ext cx="2568935" cy="2568935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81486" y="3862541"/>
            <a:ext cx="2568935" cy="2568935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AutoShape 14" id="14"/>
          <p:cNvSpPr/>
          <p:nvPr/>
        </p:nvSpPr>
        <p:spPr>
          <a:xfrm>
            <a:off x="1028700" y="1080545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661244" y="1833716"/>
            <a:ext cx="1496551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8499" i="true" spc="-416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Oportunidades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88214" y="4794584"/>
            <a:ext cx="230559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66260" y="4794584"/>
            <a:ext cx="230559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13157" y="4794584"/>
            <a:ext cx="230559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III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03995" y="6697829"/>
            <a:ext cx="387403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Novas aplicações: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Expansão para Web Semântica, IA explicável e robótica.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2042" y="6697829"/>
            <a:ext cx="387403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Integração com outras linguagens: 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Aperfeiçoar interfaces com Python e Java.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28938" y="6697829"/>
            <a:ext cx="387403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Apoio ao ensino: 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Prolog como ferramenta para ensinar lógica computacional e IA.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723" y="3701316"/>
            <a:ext cx="8115300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b="true" sz="15000" i="true" spc="-735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Ameaças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38767" y="813102"/>
            <a:ext cx="7120533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Ameaças para o avanço do Prolog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38767" y="3451830"/>
            <a:ext cx="712053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Linguagens como Python, com vasto suporte a bibliotecas de IA, são mais atraentes para desenvolvedores iniciantes.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38767" y="2699052"/>
            <a:ext cx="71205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Concorrência de linguagens populares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38767" y="5741307"/>
            <a:ext cx="712053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Sem evolução, Prolog corre o risco de ser substituído por linguagens mais dinâmicas e bem suportadas.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38767" y="4988530"/>
            <a:ext cx="71205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Obsolescência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38767" y="8183184"/>
            <a:ext cx="712053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A falta de um padrão único entre as implementações dificulta a portabilidade e adoção em larga escala.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38767" y="7430407"/>
            <a:ext cx="71205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Fragmentação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951836" y="4069121"/>
            <a:ext cx="0" cy="192772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10138767" y="3361342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138767" y="5650517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138767" y="8092395"/>
            <a:ext cx="7120533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65906" y="1862799"/>
            <a:ext cx="11293394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Prolog: Tradição e Potencial Futuro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621073"/>
            <a:ext cx="16230600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Prolog tem qualidades únicas para IA e lógica, mas precisa se atualizar para o ecossistema moderno de software. Integrar-se com outras linguagens e reforçar seu papel no ensino de lógica e IA são caminhos essenciais para garantir sua relevância futura. Essas adaptações ajudarão a manter o impacto da linguagem em novas áreas tecnológicas.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104298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3813165" y="4486121"/>
            <a:ext cx="3155236" cy="0"/>
          </a:xfrm>
          <a:prstGeom prst="line">
            <a:avLst/>
          </a:prstGeom>
          <a:ln cap="flat" w="47625">
            <a:solidFill>
              <a:srgbClr val="33333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>
            <a:off x="1028700" y="9244012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143500"/>
            <a:ext cx="4586693" cy="3671047"/>
            <a:chOff x="0" y="0"/>
            <a:chExt cx="2909794" cy="2328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9794" cy="2328909"/>
            </a:xfrm>
            <a:custGeom>
              <a:avLst/>
              <a:gdLst/>
              <a:ahLst/>
              <a:cxnLst/>
              <a:rect r="r" b="b" t="t" l="l"/>
              <a:pathLst>
                <a:path h="2328909" w="2909794">
                  <a:moveTo>
                    <a:pt x="2785334" y="59690"/>
                  </a:moveTo>
                  <a:cubicBezTo>
                    <a:pt x="2820894" y="59690"/>
                    <a:pt x="2850104" y="88900"/>
                    <a:pt x="2850104" y="124460"/>
                  </a:cubicBezTo>
                  <a:lnTo>
                    <a:pt x="2850104" y="2204449"/>
                  </a:lnTo>
                  <a:cubicBezTo>
                    <a:pt x="2850104" y="2240009"/>
                    <a:pt x="2820894" y="2269219"/>
                    <a:pt x="2785334" y="2269219"/>
                  </a:cubicBezTo>
                  <a:lnTo>
                    <a:pt x="124460" y="2269219"/>
                  </a:lnTo>
                  <a:cubicBezTo>
                    <a:pt x="88900" y="2269219"/>
                    <a:pt x="59690" y="2240009"/>
                    <a:pt x="59690" y="220444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785334" y="59690"/>
                  </a:lnTo>
                  <a:moveTo>
                    <a:pt x="2785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04449"/>
                  </a:lnTo>
                  <a:cubicBezTo>
                    <a:pt x="0" y="2273029"/>
                    <a:pt x="55880" y="2328909"/>
                    <a:pt x="124460" y="2328909"/>
                  </a:cubicBezTo>
                  <a:lnTo>
                    <a:pt x="2785334" y="2328909"/>
                  </a:lnTo>
                  <a:cubicBezTo>
                    <a:pt x="2853914" y="2328909"/>
                    <a:pt x="2909794" y="2273029"/>
                    <a:pt x="2909794" y="2204449"/>
                  </a:cubicBezTo>
                  <a:lnTo>
                    <a:pt x="2909794" y="124460"/>
                  </a:lnTo>
                  <a:cubicBezTo>
                    <a:pt x="2909794" y="55880"/>
                    <a:pt x="2853914" y="0"/>
                    <a:pt x="2785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1028700" y="757111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61244" y="1727958"/>
            <a:ext cx="14965512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b="true" sz="9499" i="true" spc="-465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Conclusão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5948" y="5806438"/>
            <a:ext cx="3874031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Surgimento das várias implementações de Prolog disponíveis</a:t>
            </a:r>
          </a:p>
          <a:p>
            <a:pPr algn="l">
              <a:lnSpc>
                <a:spcPts val="2760"/>
              </a:lnSpc>
            </a:pP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Divergência entre os sistemas e suas unicidades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79913" y="4437699"/>
            <a:ext cx="3086100" cy="982976"/>
            <a:chOff x="0" y="0"/>
            <a:chExt cx="812800" cy="2588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58891"/>
            </a:xfrm>
            <a:custGeom>
              <a:avLst/>
              <a:gdLst/>
              <a:ahLst/>
              <a:cxnLst/>
              <a:rect r="r" b="b" t="t" l="l"/>
              <a:pathLst>
                <a:path h="258891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16244"/>
                  </a:lnTo>
                  <a:cubicBezTo>
                    <a:pt x="812800" y="227555"/>
                    <a:pt x="808307" y="238402"/>
                    <a:pt x="800309" y="246400"/>
                  </a:cubicBezTo>
                  <a:cubicBezTo>
                    <a:pt x="792311" y="254398"/>
                    <a:pt x="781464" y="258891"/>
                    <a:pt x="770153" y="258891"/>
                  </a:cubicBezTo>
                  <a:lnTo>
                    <a:pt x="42647" y="258891"/>
                  </a:lnTo>
                  <a:cubicBezTo>
                    <a:pt x="19094" y="258891"/>
                    <a:pt x="0" y="239797"/>
                    <a:pt x="0" y="21624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12800" cy="268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94502" y="4714875"/>
            <a:ext cx="285692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Primeiros passos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50654" y="5143500"/>
            <a:ext cx="4586693" cy="3671047"/>
            <a:chOff x="0" y="0"/>
            <a:chExt cx="2909794" cy="23289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09794" cy="2328909"/>
            </a:xfrm>
            <a:custGeom>
              <a:avLst/>
              <a:gdLst/>
              <a:ahLst/>
              <a:cxnLst/>
              <a:rect r="r" b="b" t="t" l="l"/>
              <a:pathLst>
                <a:path h="2328909" w="2909794">
                  <a:moveTo>
                    <a:pt x="2785334" y="59690"/>
                  </a:moveTo>
                  <a:cubicBezTo>
                    <a:pt x="2820894" y="59690"/>
                    <a:pt x="2850104" y="88900"/>
                    <a:pt x="2850104" y="124460"/>
                  </a:cubicBezTo>
                  <a:lnTo>
                    <a:pt x="2850104" y="2204449"/>
                  </a:lnTo>
                  <a:cubicBezTo>
                    <a:pt x="2850104" y="2240009"/>
                    <a:pt x="2820894" y="2269219"/>
                    <a:pt x="2785334" y="2269219"/>
                  </a:cubicBezTo>
                  <a:lnTo>
                    <a:pt x="124460" y="2269219"/>
                  </a:lnTo>
                  <a:cubicBezTo>
                    <a:pt x="88900" y="2269219"/>
                    <a:pt x="59690" y="2240009"/>
                    <a:pt x="59690" y="220444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785334" y="59690"/>
                  </a:lnTo>
                  <a:moveTo>
                    <a:pt x="2785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04449"/>
                  </a:lnTo>
                  <a:cubicBezTo>
                    <a:pt x="0" y="2273029"/>
                    <a:pt x="55880" y="2328909"/>
                    <a:pt x="124460" y="2328909"/>
                  </a:cubicBezTo>
                  <a:lnTo>
                    <a:pt x="2785334" y="2328909"/>
                  </a:lnTo>
                  <a:cubicBezTo>
                    <a:pt x="2853914" y="2328909"/>
                    <a:pt x="2909794" y="2273029"/>
                    <a:pt x="2909794" y="2204449"/>
                  </a:cubicBezTo>
                  <a:lnTo>
                    <a:pt x="2909794" y="124460"/>
                  </a:lnTo>
                  <a:cubicBezTo>
                    <a:pt x="2909794" y="55880"/>
                    <a:pt x="2853914" y="0"/>
                    <a:pt x="2785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206985" y="5806438"/>
            <a:ext cx="3874031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Principais sistemas Prolog</a:t>
            </a:r>
          </a:p>
          <a:p>
            <a:pPr algn="l">
              <a:lnSpc>
                <a:spcPts val="2760"/>
              </a:lnSpc>
            </a:pP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Uso do padrão ISO</a:t>
            </a:r>
          </a:p>
          <a:p>
            <a:pPr algn="l">
              <a:lnSpc>
                <a:spcPts val="2760"/>
              </a:lnSpc>
            </a:pP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Problemas de portabilidade</a:t>
            </a:r>
          </a:p>
          <a:p>
            <a:pPr algn="l">
              <a:lnSpc>
                <a:spcPts val="276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2675596" y="5143500"/>
            <a:ext cx="4586693" cy="3671047"/>
            <a:chOff x="0" y="0"/>
            <a:chExt cx="2909794" cy="23289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09794" cy="2328909"/>
            </a:xfrm>
            <a:custGeom>
              <a:avLst/>
              <a:gdLst/>
              <a:ahLst/>
              <a:cxnLst/>
              <a:rect r="r" b="b" t="t" l="l"/>
              <a:pathLst>
                <a:path h="2328909" w="2909794">
                  <a:moveTo>
                    <a:pt x="2785334" y="59690"/>
                  </a:moveTo>
                  <a:cubicBezTo>
                    <a:pt x="2820894" y="59690"/>
                    <a:pt x="2850104" y="88900"/>
                    <a:pt x="2850104" y="124460"/>
                  </a:cubicBezTo>
                  <a:lnTo>
                    <a:pt x="2850104" y="2204449"/>
                  </a:lnTo>
                  <a:cubicBezTo>
                    <a:pt x="2850104" y="2240009"/>
                    <a:pt x="2820894" y="2269219"/>
                    <a:pt x="2785334" y="2269219"/>
                  </a:cubicBezTo>
                  <a:lnTo>
                    <a:pt x="124460" y="2269219"/>
                  </a:lnTo>
                  <a:cubicBezTo>
                    <a:pt x="88900" y="2269219"/>
                    <a:pt x="59690" y="2240009"/>
                    <a:pt x="59690" y="220444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2785334" y="59690"/>
                  </a:lnTo>
                  <a:moveTo>
                    <a:pt x="27853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204449"/>
                  </a:lnTo>
                  <a:cubicBezTo>
                    <a:pt x="0" y="2273029"/>
                    <a:pt x="55880" y="2328909"/>
                    <a:pt x="124460" y="2328909"/>
                  </a:cubicBezTo>
                  <a:lnTo>
                    <a:pt x="2785334" y="2328909"/>
                  </a:lnTo>
                  <a:cubicBezTo>
                    <a:pt x="2853914" y="2328909"/>
                    <a:pt x="2909794" y="2273029"/>
                    <a:pt x="2909794" y="2204449"/>
                  </a:cubicBezTo>
                  <a:lnTo>
                    <a:pt x="2909794" y="124460"/>
                  </a:lnTo>
                  <a:cubicBezTo>
                    <a:pt x="2909794" y="55880"/>
                    <a:pt x="2853914" y="0"/>
                    <a:pt x="278533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032844" y="5806438"/>
            <a:ext cx="3874031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Pontos fortes, fracos, oportunidades e ameaças</a:t>
            </a:r>
          </a:p>
          <a:p>
            <a:pPr algn="l">
              <a:lnSpc>
                <a:spcPts val="2760"/>
              </a:lnSpc>
            </a:pP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Comunidade</a:t>
            </a:r>
          </a:p>
          <a:p>
            <a:pPr algn="l">
              <a:lnSpc>
                <a:spcPts val="2760"/>
              </a:lnSpc>
            </a:pP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No</a:t>
            </a:r>
            <a:r>
              <a:rPr lang="en-US" sz="23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vas iniciativas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600950" y="4437699"/>
            <a:ext cx="3086100" cy="982976"/>
            <a:chOff x="0" y="0"/>
            <a:chExt cx="812800" cy="2588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258891"/>
            </a:xfrm>
            <a:custGeom>
              <a:avLst/>
              <a:gdLst/>
              <a:ahLst/>
              <a:cxnLst/>
              <a:rect r="r" b="b" t="t" l="l"/>
              <a:pathLst>
                <a:path h="258891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16244"/>
                  </a:lnTo>
                  <a:cubicBezTo>
                    <a:pt x="812800" y="227555"/>
                    <a:pt x="808307" y="238402"/>
                    <a:pt x="800309" y="246400"/>
                  </a:cubicBezTo>
                  <a:cubicBezTo>
                    <a:pt x="792311" y="254398"/>
                    <a:pt x="781464" y="258891"/>
                    <a:pt x="770153" y="258891"/>
                  </a:cubicBezTo>
                  <a:lnTo>
                    <a:pt x="42647" y="258891"/>
                  </a:lnTo>
                  <a:cubicBezTo>
                    <a:pt x="19094" y="258891"/>
                    <a:pt x="0" y="239797"/>
                    <a:pt x="0" y="21624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12800" cy="268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715539" y="4710113"/>
            <a:ext cx="285692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Estado atual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426810" y="4437699"/>
            <a:ext cx="3086100" cy="982976"/>
            <a:chOff x="0" y="0"/>
            <a:chExt cx="812800" cy="2588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258891"/>
            </a:xfrm>
            <a:custGeom>
              <a:avLst/>
              <a:gdLst/>
              <a:ahLst/>
              <a:cxnLst/>
              <a:rect r="r" b="b" t="t" l="l"/>
              <a:pathLst>
                <a:path h="258891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16244"/>
                  </a:lnTo>
                  <a:cubicBezTo>
                    <a:pt x="812800" y="227555"/>
                    <a:pt x="808307" y="238402"/>
                    <a:pt x="800309" y="246400"/>
                  </a:cubicBezTo>
                  <a:cubicBezTo>
                    <a:pt x="792311" y="254398"/>
                    <a:pt x="781464" y="258891"/>
                    <a:pt x="770153" y="258891"/>
                  </a:cubicBezTo>
                  <a:lnTo>
                    <a:pt x="42647" y="258891"/>
                  </a:lnTo>
                  <a:cubicBezTo>
                    <a:pt x="19094" y="258891"/>
                    <a:pt x="0" y="239797"/>
                    <a:pt x="0" y="21624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812800" cy="268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541398" y="4710113"/>
            <a:ext cx="285692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F5F5F4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Futuro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5408612"/>
            <a:ext cx="1690612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595436" y="2996304"/>
            <a:ext cx="8766306" cy="5821543"/>
            <a:chOff x="0" y="0"/>
            <a:chExt cx="1223946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3946" cy="812800"/>
            </a:xfrm>
            <a:custGeom>
              <a:avLst/>
              <a:gdLst/>
              <a:ahLst/>
              <a:cxnLst/>
              <a:rect r="r" b="b" t="t" l="l"/>
              <a:pathLst>
                <a:path h="812800" w="1223946">
                  <a:moveTo>
                    <a:pt x="17663" y="0"/>
                  </a:moveTo>
                  <a:lnTo>
                    <a:pt x="1206283" y="0"/>
                  </a:lnTo>
                  <a:cubicBezTo>
                    <a:pt x="1216038" y="0"/>
                    <a:pt x="1223946" y="7908"/>
                    <a:pt x="1223946" y="17663"/>
                  </a:cubicBezTo>
                  <a:lnTo>
                    <a:pt x="1223946" y="795137"/>
                  </a:lnTo>
                  <a:cubicBezTo>
                    <a:pt x="1223946" y="799822"/>
                    <a:pt x="1222085" y="804314"/>
                    <a:pt x="1218773" y="807627"/>
                  </a:cubicBezTo>
                  <a:cubicBezTo>
                    <a:pt x="1215460" y="810939"/>
                    <a:pt x="1210968" y="812800"/>
                    <a:pt x="1206283" y="812800"/>
                  </a:cubicBezTo>
                  <a:lnTo>
                    <a:pt x="17663" y="812800"/>
                  </a:lnTo>
                  <a:cubicBezTo>
                    <a:pt x="12978" y="812800"/>
                    <a:pt x="8486" y="810939"/>
                    <a:pt x="5173" y="807627"/>
                  </a:cubicBezTo>
                  <a:cubicBezTo>
                    <a:pt x="1861" y="804314"/>
                    <a:pt x="0" y="799822"/>
                    <a:pt x="0" y="795137"/>
                  </a:cubicBezTo>
                  <a:lnTo>
                    <a:pt x="0" y="17663"/>
                  </a:lnTo>
                  <a:cubicBezTo>
                    <a:pt x="0" y="12978"/>
                    <a:pt x="1861" y="8486"/>
                    <a:pt x="5173" y="5173"/>
                  </a:cubicBezTo>
                  <a:cubicBezTo>
                    <a:pt x="8486" y="1861"/>
                    <a:pt x="12978" y="0"/>
                    <a:pt x="1766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3" r="0" b="-163"/>
              </a:stretch>
            </a:blipFill>
            <a:ln w="123825" cap="sq">
              <a:solidFill>
                <a:srgbClr val="333333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715003" y="307696"/>
            <a:ext cx="1544297" cy="1310722"/>
          </a:xfrm>
          <a:custGeom>
            <a:avLst/>
            <a:gdLst/>
            <a:ahLst/>
            <a:cxnLst/>
            <a:rect r="r" b="b" t="t" l="l"/>
            <a:pathLst>
              <a:path h="1310722" w="1544297">
                <a:moveTo>
                  <a:pt x="0" y="0"/>
                </a:moveTo>
                <a:lnTo>
                  <a:pt x="1544297" y="0"/>
                </a:lnTo>
                <a:lnTo>
                  <a:pt x="1544297" y="1310722"/>
                </a:lnTo>
                <a:lnTo>
                  <a:pt x="0" y="1310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333750"/>
            <a:ext cx="811530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b="true" sz="9999" i="true" spc="-48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Obrigado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58685" y="5057775"/>
            <a:ext cx="6085315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b="true" sz="3500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Pela atenção!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71550"/>
            <a:ext cx="5036818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Apresentação de artigo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6571893"/>
            <a:ext cx="5036818" cy="2460815"/>
            <a:chOff x="0" y="0"/>
            <a:chExt cx="6715757" cy="328108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6715757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333333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Integrantes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720850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Mateus Otoni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00816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Raquel Motta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821770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Antônio Drumond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140883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Davi Puddo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90550"/>
              <a:ext cx="6715757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333333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Laura Menezes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DAGlF2HhpYE</dc:identifier>
  <dcterms:modified xsi:type="dcterms:W3CDTF">2011-08-01T06:04:30Z</dcterms:modified>
  <cp:revision>1</cp:revision>
  <dc:title>Artigo Prolog</dc:title>
</cp:coreProperties>
</file>